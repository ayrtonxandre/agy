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371600" cy="54864"/>
          </a:xfrm>
          <a:prstGeom prst="rect">
            <a:avLst/>
          </a:prstGeom>
          <a:solidFill>
            <a:srgbClr val="FACC15"/>
          </a:solidFill>
          <a:ln>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728655" cy="2377440"/>
          </a:xfrm>
          <a:prstGeom prst="rect">
            <a:avLst/>
          </a:prstGeom>
          <a:noFill/>
        </p:spPr>
        <p:txBody>
          <a:bodyPr wrap="square" lIns="0" tIns="0" rIns="0" bIns="0">
            <a:spAutoFit/>
          </a:bodyPr>
          <a:lstStyle/>
          <a:p>
            <a:pPr>
              <a:spcAft>
                <a:spcPts val="600"/>
              </a:spcAft>
              <a:defRPr sz="1100" b="1">
                <a:solidFill>
                  <a:srgbClr val="38BDF8"/>
                </a:solidFill>
              </a:defRPr>
            </a:pPr>
            <a:r>
              <a:t>⚡ ATHX GAMES 2027 • MASTER ATHLETE INTELLIGENCE</a:t>
            </a:r>
          </a:p>
          <a:p>
            <a:pPr>
              <a:spcAft>
                <a:spcPts val="800"/>
              </a:spcAft>
              <a:defRPr sz="3600" b="1">
                <a:solidFill>
                  <a:srgbClr val="F8FAFC"/>
                </a:solidFill>
              </a:defRPr>
            </a:pPr>
            <a:r>
              <a:t>ATHX Dashboard &amp; Garmin Telemetry</a:t>
            </a:r>
          </a:p>
          <a:p>
            <a:pPr>
              <a:spcAft>
                <a:spcPts val="400"/>
              </a:spcAft>
              <a:defRPr sz="1400">
                <a:solidFill>
                  <a:srgbClr val="94A3B8"/>
                </a:solidFill>
              </a:defRPr>
            </a:pPr>
            <a:r>
              <a:t>Unified Athletic Intelligence Hub, Garmin Strength Progression &amp; 2027 Competition Peaking</a:t>
            </a:r>
          </a:p>
          <a:p>
            <a:pPr>
              <a:defRPr sz="1100">
                <a:solidFill>
                  <a:srgbClr val="64748B"/>
                </a:solidFill>
              </a:defRPr>
            </a:pPr>
            <a:r>
              <a:t>Athlete &amp; System Architect: Ayrton Andre | Cross-Training &amp; Hybrid Strength Engine</a:t>
            </a:r>
          </a:p>
        </p:txBody>
      </p:sp>
      <p:sp>
        <p:nvSpPr>
          <p:cNvPr id="5" name="Rounded Rectangle 4"/>
          <p:cNvSpPr/>
          <p:nvPr/>
        </p:nvSpPr>
        <p:spPr>
          <a:xfrm>
            <a:off x="731520" y="3749039"/>
            <a:ext cx="2514600" cy="12801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3858768"/>
            <a:ext cx="2185416" cy="1060704"/>
          </a:xfrm>
          <a:prstGeom prst="rect">
            <a:avLst/>
          </a:prstGeom>
          <a:noFill/>
        </p:spPr>
        <p:txBody>
          <a:bodyPr wrap="square" lIns="0" tIns="0" rIns="0" bIns="0">
            <a:spAutoFit/>
          </a:bodyPr>
          <a:lstStyle/>
          <a:p>
            <a:pPr>
              <a:spcAft>
                <a:spcPts val="200"/>
              </a:spcAft>
              <a:defRPr sz="950" b="1">
                <a:solidFill>
                  <a:srgbClr val="94A3B8"/>
                </a:solidFill>
              </a:defRPr>
            </a:pPr>
            <a:r>
              <a:t>TIMELINE COUNTDOWN</a:t>
            </a:r>
          </a:p>
          <a:p>
            <a:pPr>
              <a:spcAft>
                <a:spcPts val="200"/>
              </a:spcAft>
              <a:defRPr sz="2100" b="1">
                <a:solidFill>
                  <a:srgbClr val="FACC15"/>
                </a:solidFill>
              </a:defRPr>
            </a:pPr>
            <a:r>
              <a:t>34 Weeks</a:t>
            </a:r>
          </a:p>
          <a:p>
            <a:pPr>
              <a:defRPr sz="900">
                <a:solidFill>
                  <a:srgbClr val="64748B"/>
                </a:solidFill>
              </a:defRPr>
            </a:pPr>
            <a:r>
              <a:t>Target Date: 27 May 2027</a:t>
            </a:r>
          </a:p>
        </p:txBody>
      </p:sp>
      <p:sp>
        <p:nvSpPr>
          <p:cNvPr id="7" name="Rounded Rectangle 6"/>
          <p:cNvSpPr/>
          <p:nvPr/>
        </p:nvSpPr>
        <p:spPr>
          <a:xfrm>
            <a:off x="3465576" y="3749039"/>
            <a:ext cx="2514600" cy="12801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0168" y="3858768"/>
            <a:ext cx="2185416" cy="1060704"/>
          </a:xfrm>
          <a:prstGeom prst="rect">
            <a:avLst/>
          </a:prstGeom>
          <a:noFill/>
        </p:spPr>
        <p:txBody>
          <a:bodyPr wrap="square" lIns="0" tIns="0" rIns="0" bIns="0">
            <a:spAutoFit/>
          </a:bodyPr>
          <a:lstStyle/>
          <a:p>
            <a:pPr>
              <a:spcAft>
                <a:spcPts val="200"/>
              </a:spcAft>
              <a:defRPr sz="950" b="1">
                <a:solidFill>
                  <a:srgbClr val="94A3B8"/>
                </a:solidFill>
              </a:defRPr>
            </a:pPr>
            <a:r>
              <a:t>GARMIN VALID SETS</a:t>
            </a:r>
          </a:p>
          <a:p>
            <a:pPr>
              <a:spcAft>
                <a:spcPts val="200"/>
              </a:spcAft>
              <a:defRPr sz="2100" b="1">
                <a:solidFill>
                  <a:srgbClr val="38BDF8"/>
                </a:solidFill>
              </a:defRPr>
            </a:pPr>
            <a:r>
              <a:t>1,371 Sets</a:t>
            </a:r>
          </a:p>
          <a:p>
            <a:pPr>
              <a:defRPr sz="900">
                <a:solidFill>
                  <a:srgbClr val="64748B"/>
                </a:solidFill>
              </a:defRPr>
            </a:pPr>
            <a:r>
              <a:t>Across 68 Strength Sessions</a:t>
            </a:r>
          </a:p>
        </p:txBody>
      </p:sp>
      <p:sp>
        <p:nvSpPr>
          <p:cNvPr id="9" name="Rounded Rectangle 8"/>
          <p:cNvSpPr/>
          <p:nvPr/>
        </p:nvSpPr>
        <p:spPr>
          <a:xfrm>
            <a:off x="6199632" y="3749039"/>
            <a:ext cx="2514600" cy="12801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3858768"/>
            <a:ext cx="2185416" cy="1060704"/>
          </a:xfrm>
          <a:prstGeom prst="rect">
            <a:avLst/>
          </a:prstGeom>
          <a:noFill/>
        </p:spPr>
        <p:txBody>
          <a:bodyPr wrap="square" lIns="0" tIns="0" rIns="0" bIns="0">
            <a:spAutoFit/>
          </a:bodyPr>
          <a:lstStyle/>
          <a:p>
            <a:pPr>
              <a:spcAft>
                <a:spcPts val="200"/>
              </a:spcAft>
              <a:defRPr sz="950" b="1">
                <a:solidFill>
                  <a:srgbClr val="94A3B8"/>
                </a:solidFill>
              </a:defRPr>
            </a:pPr>
            <a:r>
              <a:t>AUDITED VOLUME</a:t>
            </a:r>
          </a:p>
          <a:p>
            <a:pPr>
              <a:spcAft>
                <a:spcPts val="200"/>
              </a:spcAft>
              <a:defRPr sz="2100" b="1">
                <a:solidFill>
                  <a:srgbClr val="A78BFA"/>
                </a:solidFill>
              </a:defRPr>
            </a:pPr>
            <a:r>
              <a:t>545.8 Tons</a:t>
            </a:r>
          </a:p>
          <a:p>
            <a:pPr>
              <a:defRPr sz="900">
                <a:solidFill>
                  <a:srgbClr val="64748B"/>
                </a:solidFill>
              </a:defRPr>
            </a:pPr>
            <a:r>
              <a:t>Since 2026-05-01 Hard Floor</a:t>
            </a:r>
          </a:p>
        </p:txBody>
      </p:sp>
      <p:sp>
        <p:nvSpPr>
          <p:cNvPr id="11" name="Rounded Rectangle 10"/>
          <p:cNvSpPr/>
          <p:nvPr/>
        </p:nvSpPr>
        <p:spPr>
          <a:xfrm>
            <a:off x="8933688" y="3749039"/>
            <a:ext cx="2514600" cy="12801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3858768"/>
            <a:ext cx="2185416" cy="1060704"/>
          </a:xfrm>
          <a:prstGeom prst="rect">
            <a:avLst/>
          </a:prstGeom>
          <a:noFill/>
        </p:spPr>
        <p:txBody>
          <a:bodyPr wrap="square" lIns="0" tIns="0" rIns="0" bIns="0">
            <a:spAutoFit/>
          </a:bodyPr>
          <a:lstStyle/>
          <a:p>
            <a:pPr>
              <a:spcAft>
                <a:spcPts val="200"/>
              </a:spcAft>
              <a:defRPr sz="950" b="1">
                <a:solidFill>
                  <a:srgbClr val="94A3B8"/>
                </a:solidFill>
              </a:defRPr>
            </a:pPr>
            <a:r>
              <a:t>MASS TARGET</a:t>
            </a:r>
          </a:p>
          <a:p>
            <a:pPr>
              <a:spcAft>
                <a:spcPts val="200"/>
              </a:spcAft>
              <a:defRPr sz="2100" b="1">
                <a:solidFill>
                  <a:srgbClr val="34D399"/>
                </a:solidFill>
              </a:defRPr>
            </a:pPr>
            <a:r>
              <a:t>79.0 → 85.0 kg</a:t>
            </a:r>
          </a:p>
          <a:p>
            <a:pPr>
              <a:defRPr sz="900">
                <a:solidFill>
                  <a:srgbClr val="64748B"/>
                </a:solidFill>
              </a:defRPr>
            </a:pPr>
            <a:r>
              <a:t>Hypertrophy Bulking (+6.0 kg)</a:t>
            </a:r>
          </a:p>
        </p:txBody>
      </p:sp>
      <p:sp>
        <p:nvSpPr>
          <p:cNvPr id="13" name="Rounded Rectangle 12"/>
          <p:cNvSpPr/>
          <p:nvPr/>
        </p:nvSpPr>
        <p:spPr>
          <a:xfrm>
            <a:off x="731520" y="5303520"/>
            <a:ext cx="10728655" cy="960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777240"/>
          </a:xfrm>
          <a:prstGeom prst="rect">
            <a:avLst/>
          </a:prstGeom>
          <a:noFill/>
        </p:spPr>
        <p:txBody>
          <a:bodyPr wrap="square">
            <a:spAutoFit/>
          </a:bodyPr>
          <a:lstStyle/>
          <a:p>
            <a:pPr>
              <a:spcAft>
                <a:spcPts val="200"/>
              </a:spcAft>
              <a:defRPr sz="1000" b="1">
                <a:solidFill>
                  <a:srgbClr val="FACC15"/>
                </a:solidFill>
              </a:defRPr>
            </a:pPr>
            <a:r>
              <a:t>MISSION DIRECTIVE:</a:t>
            </a:r>
          </a:p>
          <a:p>
            <a:pPr>
              <a:defRPr sz="1000">
                <a:solidFill>
                  <a:srgbClr val="F8FAFC"/>
                </a:solidFill>
              </a:defRPr>
            </a:pPr>
            <a:r>
              <a:t>Deliver a zero-hardcoded, fully audited athletic intelligence platform bridging Garmin Connect strength analytics, Apple Health biometrics, and multi-calendar scheduling to guarantee Tier-1 qualification at the ATHX Games 2027.</a:t>
            </a:r>
          </a:p>
        </p:txBody>
      </p:sp>
      <p:sp>
        <p:nvSpPr>
          <p:cNvPr id="15" name="TextBox 14"/>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SYSTEM ARCHITECTURE &amp; INTEGRATION</a:t>
            </a:r>
          </a:p>
          <a:p>
            <a:pPr>
              <a:spcAft>
                <a:spcPts val="300"/>
              </a:spcAft>
              <a:defRPr sz="2200" b="1">
                <a:solidFill>
                  <a:srgbClr val="F8FAFC"/>
                </a:solidFill>
              </a:defRPr>
            </a:pPr>
            <a:r>
              <a:t>Multi-Source Athlete Telemetry Engine</a:t>
            </a:r>
          </a:p>
          <a:p>
            <a:pPr>
              <a:defRPr sz="1100">
                <a:solidFill>
                  <a:srgbClr val="94A3B8"/>
                </a:solidFill>
              </a:defRPr>
            </a:pPr>
            <a:r>
              <a:t>Autonomous multi-device ingestion, local daemon orchestration, and automated cloud sync</a:t>
            </a:r>
          </a:p>
        </p:txBody>
      </p:sp>
      <p:sp>
        <p:nvSpPr>
          <p:cNvPr id="4" name="Rounded Rectangle 3"/>
          <p:cNvSpPr/>
          <p:nvPr/>
        </p:nvSpPr>
        <p:spPr>
          <a:xfrm>
            <a:off x="731520" y="1737360"/>
            <a:ext cx="2514600" cy="4480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2240280" cy="4206240"/>
          </a:xfrm>
          <a:prstGeom prst="rect">
            <a:avLst/>
          </a:prstGeom>
          <a:noFill/>
        </p:spPr>
        <p:txBody>
          <a:bodyPr wrap="square" lIns="0" tIns="0" rIns="0" bIns="0">
            <a:spAutoFit/>
          </a:bodyPr>
          <a:lstStyle/>
          <a:p>
            <a:pPr>
              <a:spcAft>
                <a:spcPts val="200"/>
              </a:spcAft>
              <a:defRPr sz="850" b="1">
                <a:solidFill>
                  <a:srgbClr val="38BDF8"/>
                </a:solidFill>
              </a:defRPr>
            </a:pPr>
            <a:r>
              <a:t>STREAM 1 • STRENGTH</a:t>
            </a:r>
          </a:p>
          <a:p>
            <a:pPr>
              <a:spcAft>
                <a:spcPts val="1000"/>
              </a:spcAft>
              <a:defRPr sz="1300" b="1">
                <a:solidFill>
                  <a:srgbClr val="F8FAFC"/>
                </a:solidFill>
              </a:defRPr>
            </a:pPr>
            <a:r>
              <a:t>Garmin Connect Cloud</a:t>
            </a:r>
          </a:p>
          <a:p>
            <a:pPr>
              <a:spcAft>
                <a:spcPts val="800"/>
              </a:spcAft>
              <a:defRPr sz="950">
                <a:solidFill>
                  <a:srgbClr val="94A3B8"/>
                </a:solidFill>
              </a:defRPr>
            </a:pPr>
            <a:r>
              <a:t>• Direct Garth OAuth &amp; MFA authentication.</a:t>
            </a:r>
          </a:p>
          <a:p>
            <a:pPr>
              <a:spcAft>
                <a:spcPts val="800"/>
              </a:spcAft>
              <a:defRPr sz="950">
                <a:solidFill>
                  <a:srgbClr val="94A3B8"/>
                </a:solidFill>
              </a:defRPr>
            </a:pPr>
            <a:r>
              <a:t>• 83 Strength sessions, 8 runs, 45 cardio activities.</a:t>
            </a:r>
          </a:p>
          <a:p>
            <a:pPr>
              <a:spcAft>
                <a:spcPts val="800"/>
              </a:spcAft>
              <a:defRPr sz="950">
                <a:solidFill>
                  <a:srgbClr val="94A3B8"/>
                </a:solidFill>
              </a:defRPr>
            </a:pPr>
            <a:r>
              <a:t>• Set-by-set telemetry: exact loads, reps, rest intervals, and exercise types.</a:t>
            </a:r>
          </a:p>
          <a:p>
            <a:pPr>
              <a:spcAft>
                <a:spcPts val="800"/>
              </a:spcAft>
              <a:defRPr sz="950">
                <a:solidFill>
                  <a:srgbClr val="94A3B8"/>
                </a:solidFill>
              </a:defRPr>
            </a:pPr>
            <a:r>
              <a:t>• Auto-extracted into structured CSVs and JSON volume models.</a:t>
            </a:r>
          </a:p>
        </p:txBody>
      </p:sp>
      <p:sp>
        <p:nvSpPr>
          <p:cNvPr id="6" name="Rounded Rectangle 5"/>
          <p:cNvSpPr/>
          <p:nvPr/>
        </p:nvSpPr>
        <p:spPr>
          <a:xfrm>
            <a:off x="3465576" y="1737360"/>
            <a:ext cx="2514600" cy="4480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874519"/>
            <a:ext cx="2240280" cy="4206240"/>
          </a:xfrm>
          <a:prstGeom prst="rect">
            <a:avLst/>
          </a:prstGeom>
          <a:noFill/>
        </p:spPr>
        <p:txBody>
          <a:bodyPr wrap="square" lIns="0" tIns="0" rIns="0" bIns="0">
            <a:spAutoFit/>
          </a:bodyPr>
          <a:lstStyle/>
          <a:p>
            <a:pPr>
              <a:spcAft>
                <a:spcPts val="200"/>
              </a:spcAft>
              <a:defRPr sz="850" b="1">
                <a:solidFill>
                  <a:srgbClr val="A78BFA"/>
                </a:solidFill>
              </a:defRPr>
            </a:pPr>
            <a:r>
              <a:t>STREAM 2 • BIOMETRICS</a:t>
            </a:r>
          </a:p>
          <a:p>
            <a:pPr>
              <a:spcAft>
                <a:spcPts val="1000"/>
              </a:spcAft>
              <a:defRPr sz="1300" b="1">
                <a:solidFill>
                  <a:srgbClr val="F8FAFC"/>
                </a:solidFill>
              </a:defRPr>
            </a:pPr>
            <a:r>
              <a:t>Apple Health Auto Export</a:t>
            </a:r>
          </a:p>
          <a:p>
            <a:pPr>
              <a:spcAft>
                <a:spcPts val="800"/>
              </a:spcAft>
              <a:defRPr sz="950">
                <a:solidFill>
                  <a:srgbClr val="94A3B8"/>
                </a:solidFill>
              </a:defRPr>
            </a:pPr>
            <a:r>
              <a:t>• Local Wi-Fi MCP server (:9000) &amp; HTTP webhook (:8080).</a:t>
            </a:r>
          </a:p>
          <a:p>
            <a:pPr>
              <a:spcAft>
                <a:spcPts val="800"/>
              </a:spcAft>
              <a:defRPr sz="950">
                <a:solidFill>
                  <a:srgbClr val="94A3B8"/>
                </a:solidFill>
              </a:defRPr>
            </a:pPr>
            <a:r>
              <a:t>• Continuous ingestion of scale weight, body fat %, and lean mass.</a:t>
            </a:r>
          </a:p>
          <a:p>
            <a:pPr>
              <a:spcAft>
                <a:spcPts val="800"/>
              </a:spcAft>
              <a:defRPr sz="950">
                <a:solidFill>
                  <a:srgbClr val="94A3B8"/>
                </a:solidFill>
              </a:defRPr>
            </a:pPr>
            <a:r>
              <a:t>• High-precision sleep stage tracking (Deep, REM, Core).</a:t>
            </a:r>
          </a:p>
          <a:p>
            <a:pPr>
              <a:spcAft>
                <a:spcPts val="800"/>
              </a:spcAft>
              <a:defRPr sz="950">
                <a:solidFill>
                  <a:srgbClr val="94A3B8"/>
                </a:solidFill>
              </a:defRPr>
            </a:pPr>
            <a:r>
              <a:t>• Cardiovascular resting heart rate (54 bpm) &amp; mobility telemetry.</a:t>
            </a:r>
          </a:p>
        </p:txBody>
      </p:sp>
      <p:sp>
        <p:nvSpPr>
          <p:cNvPr id="8" name="Rounded Rectangle 7"/>
          <p:cNvSpPr/>
          <p:nvPr/>
        </p:nvSpPr>
        <p:spPr>
          <a:xfrm>
            <a:off x="6199632" y="1737360"/>
            <a:ext cx="2514600" cy="4480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874519"/>
            <a:ext cx="2240280" cy="4206240"/>
          </a:xfrm>
          <a:prstGeom prst="rect">
            <a:avLst/>
          </a:prstGeom>
          <a:noFill/>
        </p:spPr>
        <p:txBody>
          <a:bodyPr wrap="square" lIns="0" tIns="0" rIns="0" bIns="0">
            <a:spAutoFit/>
          </a:bodyPr>
          <a:lstStyle/>
          <a:p>
            <a:pPr>
              <a:spcAft>
                <a:spcPts val="200"/>
              </a:spcAft>
              <a:defRPr sz="850" b="1">
                <a:solidFill>
                  <a:srgbClr val="34D399"/>
                </a:solidFill>
              </a:defRPr>
            </a:pPr>
            <a:r>
              <a:t>STREAM 3 • SCHEDULING</a:t>
            </a:r>
          </a:p>
          <a:p>
            <a:pPr>
              <a:spcAft>
                <a:spcPts val="1000"/>
              </a:spcAft>
              <a:defRPr sz="1300" b="1">
                <a:solidFill>
                  <a:srgbClr val="F8FAFC"/>
                </a:solidFill>
              </a:defRPr>
            </a:pPr>
            <a:r>
              <a:t>Tri-Calendar Engine</a:t>
            </a:r>
          </a:p>
          <a:p>
            <a:pPr>
              <a:spcAft>
                <a:spcPts val="800"/>
              </a:spcAft>
              <a:defRPr sz="950">
                <a:solidFill>
                  <a:srgbClr val="94A3B8"/>
                </a:solidFill>
              </a:defRPr>
            </a:pPr>
            <a:r>
              <a:t>• Artefact Google Cal + iCloud CalDAV + M365 ICS.</a:t>
            </a:r>
          </a:p>
          <a:p>
            <a:pPr>
              <a:spcAft>
                <a:spcPts val="800"/>
              </a:spcAft>
              <a:defRPr sz="950">
                <a:solidFill>
                  <a:srgbClr val="94A3B8"/>
                </a:solidFill>
              </a:defRPr>
            </a:pPr>
            <a:r>
              <a:t>• Automated Push/Pull/Legs session injection.</a:t>
            </a:r>
          </a:p>
          <a:p>
            <a:pPr>
              <a:spcAft>
                <a:spcPts val="800"/>
              </a:spcAft>
              <a:defRPr sz="950">
                <a:solidFill>
                  <a:srgbClr val="94A3B8"/>
                </a:solidFill>
              </a:defRPr>
            </a:pPr>
            <a:r>
              <a:t>• Conflict-free scheduling around client work.</a:t>
            </a:r>
          </a:p>
          <a:p>
            <a:pPr>
              <a:spcAft>
                <a:spcPts val="800"/>
              </a:spcAft>
              <a:defRPr sz="950">
                <a:solidFill>
                  <a:srgbClr val="94A3B8"/>
                </a:solidFill>
              </a:defRPr>
            </a:pPr>
            <a:r>
              <a:t>• Safety protocol: zero spinal loading before evening CrossFit WODs.</a:t>
            </a:r>
          </a:p>
        </p:txBody>
      </p:sp>
      <p:sp>
        <p:nvSpPr>
          <p:cNvPr id="10" name="Rounded Rectangle 9"/>
          <p:cNvSpPr/>
          <p:nvPr/>
        </p:nvSpPr>
        <p:spPr>
          <a:xfrm>
            <a:off x="8933688" y="1737360"/>
            <a:ext cx="2514600" cy="4480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874519"/>
            <a:ext cx="2240280" cy="4206240"/>
          </a:xfrm>
          <a:prstGeom prst="rect">
            <a:avLst/>
          </a:prstGeom>
          <a:noFill/>
        </p:spPr>
        <p:txBody>
          <a:bodyPr wrap="square" lIns="0" tIns="0" rIns="0" bIns="0">
            <a:spAutoFit/>
          </a:bodyPr>
          <a:lstStyle/>
          <a:p>
            <a:pPr>
              <a:spcAft>
                <a:spcPts val="200"/>
              </a:spcAft>
              <a:defRPr sz="850" b="1">
                <a:solidFill>
                  <a:srgbClr val="FACC15"/>
                </a:solidFill>
              </a:defRPr>
            </a:pPr>
            <a:r>
              <a:t>STREAM 4 • ORCHESTRATION</a:t>
            </a:r>
          </a:p>
          <a:p>
            <a:pPr>
              <a:spcAft>
                <a:spcPts val="1000"/>
              </a:spcAft>
              <a:defRPr sz="1300" b="1">
                <a:solidFill>
                  <a:srgbClr val="F8FAFC"/>
                </a:solidFill>
              </a:defRPr>
            </a:pPr>
            <a:r>
              <a:t>Master Pipeline &amp; CLI</a:t>
            </a:r>
          </a:p>
          <a:p>
            <a:pPr>
              <a:spcAft>
                <a:spcPts val="800"/>
              </a:spcAft>
              <a:defRPr sz="950">
                <a:solidFill>
                  <a:srgbClr val="94A3B8"/>
                </a:solidFill>
              </a:defRPr>
            </a:pPr>
            <a:r>
              <a:t>• Single-word terminal command: 'athx'.</a:t>
            </a:r>
          </a:p>
          <a:p>
            <a:pPr>
              <a:spcAft>
                <a:spcPts val="800"/>
              </a:spcAft>
              <a:defRPr sz="950">
                <a:solidFill>
                  <a:srgbClr val="94A3B8"/>
                </a:solidFill>
              </a:defRPr>
            </a:pPr>
            <a:r>
              <a:t>• athx_analytics.py: E1RM, ACWR, and MEV bands.</a:t>
            </a:r>
          </a:p>
          <a:p>
            <a:pPr>
              <a:spcAft>
                <a:spcPts val="800"/>
              </a:spcAft>
              <a:defRPr sz="950">
                <a:solidFill>
                  <a:srgbClr val="94A3B8"/>
                </a:solidFill>
              </a:defRPr>
            </a:pPr>
            <a:r>
              <a:t>• Generates audited garmin_workout.html.</a:t>
            </a:r>
          </a:p>
          <a:p>
            <a:pPr>
              <a:spcAft>
                <a:spcPts val="800"/>
              </a:spcAft>
              <a:defRPr sz="950">
                <a:solidFill>
                  <a:srgbClr val="94A3B8"/>
                </a:solidFill>
              </a:defRPr>
            </a:pPr>
            <a:r>
              <a:t>• Automated GitHub Pages deployment (Single Source of Truth) &amp; Google Drive Hub.</a:t>
            </a:r>
          </a:p>
        </p:txBody>
      </p:sp>
      <p:sp>
        <p:nvSpPr>
          <p:cNvPr id="12" name="TextBox 11"/>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TIER-1 BENCHMARK AUDIT</a:t>
            </a:r>
          </a:p>
          <a:p>
            <a:pPr>
              <a:spcAft>
                <a:spcPts val="300"/>
              </a:spcAft>
              <a:defRPr sz="2200" b="1">
                <a:solidFill>
                  <a:srgbClr val="F8FAFC"/>
                </a:solidFill>
              </a:defRPr>
            </a:pPr>
            <a:r>
              <a:t>ATHX Games 2027 Qualification Readiness</a:t>
            </a:r>
          </a:p>
          <a:p>
            <a:pPr>
              <a:defRPr sz="1100">
                <a:solidFill>
                  <a:srgbClr val="94A3B8"/>
                </a:solidFill>
              </a:defRPr>
            </a:pPr>
            <a:r>
              <a:t>Live athletic telemetry benchmarked against Non-Pro category competition standards</a:t>
            </a:r>
          </a:p>
        </p:txBody>
      </p:sp>
      <p:sp>
        <p:nvSpPr>
          <p:cNvPr id="4" name="Rounded Rectangle 3"/>
          <p:cNvSpPr/>
          <p:nvPr/>
        </p:nvSpPr>
        <p:spPr>
          <a:xfrm>
            <a:off x="731520" y="1691640"/>
            <a:ext cx="530352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readiness.png"/>
          <p:cNvPicPr>
            <a:picLocks noChangeAspect="1"/>
          </p:cNvPicPr>
          <p:nvPr/>
        </p:nvPicPr>
        <p:blipFill>
          <a:blip r:embed="rId2"/>
          <a:stretch>
            <a:fillRect/>
          </a:stretch>
        </p:blipFill>
        <p:spPr>
          <a:xfrm>
            <a:off x="822960" y="1783080"/>
            <a:ext cx="5120640" cy="2880360"/>
          </a:xfrm>
          <a:prstGeom prst="rect">
            <a:avLst/>
          </a:prstGeom>
        </p:spPr>
      </p:pic>
      <p:sp>
        <p:nvSpPr>
          <p:cNvPr id="6" name="Rounded Rectangle 5"/>
          <p:cNvSpPr/>
          <p:nvPr/>
        </p:nvSpPr>
        <p:spPr>
          <a:xfrm>
            <a:off x="6217920" y="1691640"/>
            <a:ext cx="5242255"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76495" cy="4206240"/>
          </a:xfrm>
          <a:prstGeom prst="rect">
            <a:avLst/>
          </a:prstGeom>
          <a:noFill/>
        </p:spPr>
        <p:txBody>
          <a:bodyPr wrap="square" lIns="0" tIns="0" rIns="0" bIns="0">
            <a:spAutoFit/>
          </a:bodyPr>
          <a:lstStyle/>
          <a:p>
            <a:pPr>
              <a:spcAft>
                <a:spcPts val="800"/>
              </a:spcAft>
              <a:defRPr sz="1100" b="1">
                <a:solidFill>
                  <a:srgbClr val="FACC15"/>
                </a:solidFill>
              </a:defRPr>
            </a:pPr>
            <a:r>
              <a:t>DISCIPLINE BENCHMARK TELEMETRY</a:t>
            </a:r>
          </a:p>
          <a:p>
            <a:pPr>
              <a:defRPr sz="1000" b="1">
                <a:solidFill>
                  <a:srgbClr val="FACC15"/>
                </a:solidFill>
              </a:defRPr>
            </a:pPr>
            <a:r>
              <a:t>Shoulder-to-Overhead: 46.7 kg (Standard: 65.0 kg) | Readiness: 71.8%</a:t>
            </a:r>
          </a:p>
          <a:p>
            <a:pPr>
              <a:spcAft>
                <a:spcPts val="500"/>
              </a:spcAft>
              <a:defRPr sz="850">
                <a:solidFill>
                  <a:srgbClr val="94A3B8"/>
                </a:solidFill>
              </a:defRPr>
            </a:pPr>
            <a:r>
              <a:t>   Required weekly improvement: +0.54 kg/wk across remaining 34 weeks</a:t>
            </a:r>
          </a:p>
          <a:p>
            <a:pPr>
              <a:defRPr sz="1000" b="1">
                <a:solidFill>
                  <a:srgbClr val="38BDF8"/>
                </a:solidFill>
              </a:defRPr>
            </a:pPr>
            <a:r>
              <a:t>Barbell Back Squat: 100.0 kg (Standard: 125.0 kg) | Readiness: 80.0%</a:t>
            </a:r>
          </a:p>
          <a:p>
            <a:pPr>
              <a:spcAft>
                <a:spcPts val="500"/>
              </a:spcAft>
              <a:defRPr sz="850">
                <a:solidFill>
                  <a:srgbClr val="94A3B8"/>
                </a:solidFill>
              </a:defRPr>
            </a:pPr>
            <a:r>
              <a:t>   Required weekly improvement: +0.73 kg/wk across remaining 34 weeks</a:t>
            </a:r>
          </a:p>
          <a:p>
            <a:pPr>
              <a:defRPr sz="1000" b="1">
                <a:solidFill>
                  <a:srgbClr val="38BDF8"/>
                </a:solidFill>
              </a:defRPr>
            </a:pPr>
            <a:r>
              <a:t>5km Running Pace: 5:31/km (Standard: 4:30/km) | Readiness: 81.6%</a:t>
            </a:r>
          </a:p>
          <a:p>
            <a:pPr>
              <a:spcAft>
                <a:spcPts val="500"/>
              </a:spcAft>
              <a:defRPr sz="850">
                <a:solidFill>
                  <a:srgbClr val="94A3B8"/>
                </a:solidFill>
              </a:defRPr>
            </a:pPr>
            <a:r>
              <a:t>   Required weekly improvement: -1.78 s/wk across remaining 34 weeks</a:t>
            </a:r>
          </a:p>
          <a:p>
            <a:pPr>
              <a:defRPr sz="1000" b="1">
                <a:solidFill>
                  <a:srgbClr val="34D399"/>
                </a:solidFill>
              </a:defRPr>
            </a:pPr>
            <a:r>
              <a:t>Deadlift Floor Pull: 144.0 kg (Standard: 160.0 kg) | Readiness: 90.0%</a:t>
            </a:r>
          </a:p>
          <a:p>
            <a:pPr>
              <a:spcAft>
                <a:spcPts val="500"/>
              </a:spcAft>
              <a:defRPr sz="850">
                <a:solidFill>
                  <a:srgbClr val="94A3B8"/>
                </a:solidFill>
              </a:defRPr>
            </a:pPr>
            <a:r>
              <a:t>   Required weekly improvement: +0.47 kg/wk across remaining 34 weeks</a:t>
            </a:r>
          </a:p>
          <a:p>
            <a:pPr>
              <a:defRPr sz="1000" b="1">
                <a:solidFill>
                  <a:srgbClr val="34D399"/>
                </a:solidFill>
              </a:defRPr>
            </a:pPr>
            <a:r>
              <a:t>Sandbag Carry / Grip: 55.0 kg (Standard: 60.0 kg) | Readiness: 91.7%</a:t>
            </a:r>
          </a:p>
          <a:p>
            <a:pPr>
              <a:spcAft>
                <a:spcPts val="500"/>
              </a:spcAft>
              <a:defRPr sz="850">
                <a:solidFill>
                  <a:srgbClr val="94A3B8"/>
                </a:solidFill>
              </a:defRPr>
            </a:pPr>
            <a:r>
              <a:t>   Required weekly improvement: +0.15 kg/wk across remaining 34 weeks</a:t>
            </a:r>
          </a:p>
          <a:p>
            <a:pPr>
              <a:spcAft>
                <a:spcPts val="200"/>
              </a:spcAft>
              <a:defRPr sz="1000" b="1">
                <a:solidFill>
                  <a:srgbClr val="38BDF8"/>
                </a:solidFill>
              </a:defRPr>
            </a:pPr>
            <a:r>
              <a:t>STRATEGIC TAKEAWAY:</a:t>
            </a:r>
          </a:p>
          <a:p>
            <a:pPr>
              <a:defRPr sz="900">
                <a:solidFill>
                  <a:srgbClr val="F8FAFC"/>
                </a:solidFill>
              </a:defRPr>
            </a:pPr>
            <a:r>
              <a:t>• Deadlift (90.0%) and Sandbag Carry (91.7%) are within striking distance of full qualification.</a:t>
            </a:r>
            <a:br/>
            <a:r>
              <a:t>• Overhead Press / S2O (71.8%) and Squat (80.0%) represent the primary strength bottlenecks requiring dedicated hypertrophy overload.</a:t>
            </a:r>
          </a:p>
        </p:txBody>
      </p:sp>
      <p:sp>
        <p:nvSpPr>
          <p:cNvPr id="8" name="TextBox 7"/>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STRENGTH TELEMETRY &amp; VOLUME</a:t>
            </a:r>
          </a:p>
          <a:p>
            <a:pPr>
              <a:spcAft>
                <a:spcPts val="300"/>
              </a:spcAft>
              <a:defRPr sz="2200" b="1">
                <a:solidFill>
                  <a:srgbClr val="F8FAFC"/>
                </a:solidFill>
              </a:defRPr>
            </a:pPr>
            <a:r>
              <a:t>Garmin Push/Pull/Legs Telemetry &amp; E1RM Trajectories</a:t>
            </a:r>
          </a:p>
          <a:p>
            <a:pPr>
              <a:defRPr sz="1100">
                <a:solidFill>
                  <a:srgbClr val="94A3B8"/>
                </a:solidFill>
              </a:defRPr>
            </a:pPr>
            <a:r>
              <a:t>1,371 valid working sets across 68 sessions totaling 545.8 metric tons</a:t>
            </a:r>
          </a:p>
        </p:txBody>
      </p:sp>
      <p:sp>
        <p:nvSpPr>
          <p:cNvPr id="4" name="Rounded Rectangle 3"/>
          <p:cNvSpPr/>
          <p:nvPr/>
        </p:nvSpPr>
        <p:spPr>
          <a:xfrm>
            <a:off x="731520" y="1691640"/>
            <a:ext cx="2514600" cy="30175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40280" cy="2743200"/>
          </a:xfrm>
          <a:prstGeom prst="rect">
            <a:avLst/>
          </a:prstGeom>
          <a:noFill/>
        </p:spPr>
        <p:txBody>
          <a:bodyPr wrap="square" lIns="0" tIns="0" rIns="0" bIns="0">
            <a:spAutoFit/>
          </a:bodyPr>
          <a:lstStyle/>
          <a:p>
            <a:pPr>
              <a:defRPr sz="850" b="1">
                <a:solidFill>
                  <a:srgbClr val="38BDF8"/>
                </a:solidFill>
              </a:defRPr>
            </a:pPr>
            <a:r>
              <a:t>PUSH (MON)</a:t>
            </a:r>
          </a:p>
          <a:p>
            <a:pPr>
              <a:spcAft>
                <a:spcPts val="200"/>
              </a:spcAft>
              <a:defRPr sz="1300" b="1">
                <a:solidFill>
                  <a:srgbClr val="F8FAFC"/>
                </a:solidFill>
              </a:defRPr>
            </a:pPr>
            <a:r>
              <a:t>Barbell Bench Press</a:t>
            </a:r>
          </a:p>
          <a:p>
            <a:pPr>
              <a:defRPr sz="2000" b="1">
                <a:solidFill>
                  <a:srgbClr val="38BDF8"/>
                </a:solidFill>
              </a:defRPr>
            </a:pPr>
            <a:r>
              <a:t>90.0 kg</a:t>
            </a:r>
          </a:p>
          <a:p>
            <a:pPr>
              <a:spcAft>
                <a:spcPts val="400"/>
              </a:spcAft>
              <a:defRPr sz="900">
                <a:solidFill>
                  <a:srgbClr val="94A3B8"/>
                </a:solidFill>
              </a:defRPr>
            </a:pPr>
            <a:r>
              <a:t>Relative: 1.14x Bodyweight</a:t>
            </a:r>
          </a:p>
          <a:p>
            <a:pPr>
              <a:defRPr sz="900">
                <a:solidFill>
                  <a:srgbClr val="64748B"/>
                </a:solidFill>
              </a:defRPr>
            </a:pPr>
            <a:r>
              <a:t>Primary chest overload. Solid progression with stable lockout. Mechanical tension prioritized over failure.</a:t>
            </a:r>
          </a:p>
        </p:txBody>
      </p:sp>
      <p:sp>
        <p:nvSpPr>
          <p:cNvPr id="6" name="Rounded Rectangle 5"/>
          <p:cNvSpPr/>
          <p:nvPr/>
        </p:nvSpPr>
        <p:spPr>
          <a:xfrm>
            <a:off x="3465576" y="1691640"/>
            <a:ext cx="2514600" cy="30175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828800"/>
            <a:ext cx="2240280" cy="2743200"/>
          </a:xfrm>
          <a:prstGeom prst="rect">
            <a:avLst/>
          </a:prstGeom>
          <a:noFill/>
        </p:spPr>
        <p:txBody>
          <a:bodyPr wrap="square" lIns="0" tIns="0" rIns="0" bIns="0">
            <a:spAutoFit/>
          </a:bodyPr>
          <a:lstStyle/>
          <a:p>
            <a:pPr>
              <a:defRPr sz="850" b="1">
                <a:solidFill>
                  <a:srgbClr val="34D399"/>
                </a:solidFill>
              </a:defRPr>
            </a:pPr>
            <a:r>
              <a:t>LEGS (THU AM)</a:t>
            </a:r>
          </a:p>
          <a:p>
            <a:pPr>
              <a:spcAft>
                <a:spcPts val="200"/>
              </a:spcAft>
              <a:defRPr sz="1300" b="1">
                <a:solidFill>
                  <a:srgbClr val="F8FAFC"/>
                </a:solidFill>
              </a:defRPr>
            </a:pPr>
            <a:r>
              <a:t>Barbell Back Squat</a:t>
            </a:r>
          </a:p>
          <a:p>
            <a:pPr>
              <a:defRPr sz="2000" b="1">
                <a:solidFill>
                  <a:srgbClr val="34D399"/>
                </a:solidFill>
              </a:defRPr>
            </a:pPr>
            <a:r>
              <a:t>100.0 kg</a:t>
            </a:r>
          </a:p>
          <a:p>
            <a:pPr>
              <a:spcAft>
                <a:spcPts val="400"/>
              </a:spcAft>
              <a:defRPr sz="900">
                <a:solidFill>
                  <a:srgbClr val="94A3B8"/>
                </a:solidFill>
              </a:defRPr>
            </a:pPr>
            <a:r>
              <a:t>Relative: 1.27x Bodyweight</a:t>
            </a:r>
          </a:p>
          <a:p>
            <a:pPr>
              <a:defRPr sz="900">
                <a:solidFill>
                  <a:srgbClr val="64748B"/>
                </a:solidFill>
              </a:defRPr>
            </a:pPr>
            <a:r>
              <a:t>Requires focused periodization. Thursday machine leg focus preserves lower back for evening CrossFit.</a:t>
            </a:r>
          </a:p>
        </p:txBody>
      </p:sp>
      <p:sp>
        <p:nvSpPr>
          <p:cNvPr id="8" name="Rounded Rectangle 7"/>
          <p:cNvSpPr/>
          <p:nvPr/>
        </p:nvSpPr>
        <p:spPr>
          <a:xfrm>
            <a:off x="6199632" y="1691640"/>
            <a:ext cx="2514600" cy="30175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828800"/>
            <a:ext cx="2240280" cy="2743200"/>
          </a:xfrm>
          <a:prstGeom prst="rect">
            <a:avLst/>
          </a:prstGeom>
          <a:noFill/>
        </p:spPr>
        <p:txBody>
          <a:bodyPr wrap="square" lIns="0" tIns="0" rIns="0" bIns="0">
            <a:spAutoFit/>
          </a:bodyPr>
          <a:lstStyle/>
          <a:p>
            <a:pPr>
              <a:defRPr sz="850" b="1">
                <a:solidFill>
                  <a:srgbClr val="A78BFA"/>
                </a:solidFill>
              </a:defRPr>
            </a:pPr>
            <a:r>
              <a:t>PULL / HINGE</a:t>
            </a:r>
          </a:p>
          <a:p>
            <a:pPr>
              <a:spcAft>
                <a:spcPts val="200"/>
              </a:spcAft>
              <a:defRPr sz="1300" b="1">
                <a:solidFill>
                  <a:srgbClr val="F8FAFC"/>
                </a:solidFill>
              </a:defRPr>
            </a:pPr>
            <a:r>
              <a:t>Barbell Deadlift</a:t>
            </a:r>
          </a:p>
          <a:p>
            <a:pPr>
              <a:defRPr sz="2000" b="1">
                <a:solidFill>
                  <a:srgbClr val="A78BFA"/>
                </a:solidFill>
              </a:defRPr>
            </a:pPr>
            <a:r>
              <a:t>144.0 kg</a:t>
            </a:r>
          </a:p>
          <a:p>
            <a:pPr>
              <a:spcAft>
                <a:spcPts val="400"/>
              </a:spcAft>
              <a:defRPr sz="900">
                <a:solidFill>
                  <a:srgbClr val="94A3B8"/>
                </a:solidFill>
              </a:defRPr>
            </a:pPr>
            <a:r>
              <a:t>Relative: 1.82x Bodyweight</a:t>
            </a:r>
          </a:p>
          <a:p>
            <a:pPr>
              <a:defRPr sz="900">
                <a:solidFill>
                  <a:srgbClr val="64748B"/>
                </a:solidFill>
              </a:defRPr>
            </a:pPr>
            <a:r>
              <a:t>Approaching Tier-1 160kg benchmark. High posterior chain recruitment with strict form enforcement.</a:t>
            </a:r>
          </a:p>
        </p:txBody>
      </p:sp>
      <p:sp>
        <p:nvSpPr>
          <p:cNvPr id="10" name="Rounded Rectangle 9"/>
          <p:cNvSpPr/>
          <p:nvPr/>
        </p:nvSpPr>
        <p:spPr>
          <a:xfrm>
            <a:off x="8933688" y="1691640"/>
            <a:ext cx="2514600" cy="30175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828800"/>
            <a:ext cx="2240280" cy="2743200"/>
          </a:xfrm>
          <a:prstGeom prst="rect">
            <a:avLst/>
          </a:prstGeom>
          <a:noFill/>
        </p:spPr>
        <p:txBody>
          <a:bodyPr wrap="square" lIns="0" tIns="0" rIns="0" bIns="0">
            <a:spAutoFit/>
          </a:bodyPr>
          <a:lstStyle/>
          <a:p>
            <a:pPr>
              <a:defRPr sz="850" b="1">
                <a:solidFill>
                  <a:srgbClr val="FACC15"/>
                </a:solidFill>
              </a:defRPr>
            </a:pPr>
            <a:r>
              <a:t>PUSH / SHOULDERS</a:t>
            </a:r>
          </a:p>
          <a:p>
            <a:pPr>
              <a:spcAft>
                <a:spcPts val="200"/>
              </a:spcAft>
              <a:defRPr sz="1300" b="1">
                <a:solidFill>
                  <a:srgbClr val="F8FAFC"/>
                </a:solidFill>
              </a:defRPr>
            </a:pPr>
            <a:r>
              <a:t>Overhead Press / S2O</a:t>
            </a:r>
          </a:p>
          <a:p>
            <a:pPr>
              <a:defRPr sz="2000" b="1">
                <a:solidFill>
                  <a:srgbClr val="FACC15"/>
                </a:solidFill>
              </a:defRPr>
            </a:pPr>
            <a:r>
              <a:t>46.7 kg</a:t>
            </a:r>
          </a:p>
          <a:p>
            <a:pPr>
              <a:spcAft>
                <a:spcPts val="400"/>
              </a:spcAft>
              <a:defRPr sz="900">
                <a:solidFill>
                  <a:srgbClr val="94A3B8"/>
                </a:solidFill>
              </a:defRPr>
            </a:pPr>
            <a:r>
              <a:t>Relative: 0.59x Bodyweight</a:t>
            </a:r>
          </a:p>
          <a:p>
            <a:pPr>
              <a:defRPr sz="900">
                <a:solidFill>
                  <a:srgbClr val="64748B"/>
                </a:solidFill>
              </a:defRPr>
            </a:pPr>
            <a:r>
              <a:t>Direct bottleneck for S2O 65kg standard. Requires transition from strict press to explosive push jerk technique.</a:t>
            </a:r>
          </a:p>
        </p:txBody>
      </p:sp>
      <p:sp>
        <p:nvSpPr>
          <p:cNvPr id="12" name="Rounded Rectangle 11"/>
          <p:cNvSpPr/>
          <p:nvPr/>
        </p:nvSpPr>
        <p:spPr>
          <a:xfrm>
            <a:off x="731520" y="4892040"/>
            <a:ext cx="10728655"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83480"/>
            <a:ext cx="10362895" cy="1143000"/>
          </a:xfrm>
          <a:prstGeom prst="rect">
            <a:avLst/>
          </a:prstGeom>
          <a:noFill/>
        </p:spPr>
        <p:txBody>
          <a:bodyPr wrap="square">
            <a:spAutoFit/>
          </a:bodyPr>
          <a:lstStyle/>
          <a:p>
            <a:pPr>
              <a:spcAft>
                <a:spcPts val="300"/>
              </a:spcAft>
              <a:defRPr sz="1050" b="1">
                <a:solidFill>
                  <a:srgbClr val="38BDF8"/>
                </a:solidFill>
              </a:defRPr>
            </a:pPr>
            <a:r>
              <a:t>WEEKLY HYPERTROPHY BLUEPRINT (THE 'UNKNOWN WOD' PROTOCOL):</a:t>
            </a:r>
          </a:p>
          <a:p>
            <a:pPr>
              <a:defRPr sz="950">
                <a:solidFill>
                  <a:srgbClr val="F8FAFC"/>
                </a:solidFill>
              </a:defRPr>
            </a:pPr>
            <a:r>
              <a:t>• Monday: Heavy Compound Push (Chest, Front Delts, Triceps) — Maximum mechanical tension.</a:t>
            </a:r>
            <a:br/>
            <a:r>
              <a:t>• Tuesday AM: Strict Isolation Pull (Lats, Biceps) — Spares lumbar spine prior to Tuesday evening CrossFit.</a:t>
            </a:r>
            <a:br/>
            <a:r>
              <a:t>• Thursday AM: Machine Isolation Legs (Hamstring Curls, Leg Press) — Zero spinal compression before evening WOD.</a:t>
            </a:r>
            <a:br/>
            <a:r>
              <a:t>• Friday: Armor Building &amp; Neglected Muscles (Lateral Delts, Forearms, Calves, Tibialis, Core bulletproofing).</a:t>
            </a:r>
          </a:p>
        </p:txBody>
      </p:sp>
      <p:sp>
        <p:nvSpPr>
          <p:cNvPr id="14" name="TextBox 13"/>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HYPERTROPHY FRAMEWORK (DR. MIKE ISRAETEL)</a:t>
            </a:r>
          </a:p>
          <a:p>
            <a:pPr>
              <a:spcAft>
                <a:spcPts val="300"/>
              </a:spcAft>
              <a:defRPr sz="2200" b="1">
                <a:solidFill>
                  <a:srgbClr val="F8FAFC"/>
                </a:solidFill>
              </a:defRPr>
            </a:pPr>
            <a:r>
              <a:t>Volume Tiering: Exposing MEV &amp; MRV Deficits</a:t>
            </a:r>
          </a:p>
          <a:p>
            <a:pPr>
              <a:defRPr sz="1100">
                <a:solidFill>
                  <a:srgbClr val="94A3B8"/>
                </a:solidFill>
              </a:defRPr>
            </a:pPr>
            <a:r>
              <a:t>Weekly hard sets classified against Minimum Effective, Adaptive, and Maximum Recoverable Volume</a:t>
            </a:r>
          </a:p>
        </p:txBody>
      </p:sp>
      <p:sp>
        <p:nvSpPr>
          <p:cNvPr id="4" name="Rounded Rectangle 3"/>
          <p:cNvSpPr/>
          <p:nvPr/>
        </p:nvSpPr>
        <p:spPr>
          <a:xfrm>
            <a:off x="731520" y="1691640"/>
            <a:ext cx="530352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v_mrv_bands.png"/>
          <p:cNvPicPr>
            <a:picLocks noChangeAspect="1"/>
          </p:cNvPicPr>
          <p:nvPr/>
        </p:nvPicPr>
        <p:blipFill>
          <a:blip r:embed="rId2"/>
          <a:stretch>
            <a:fillRect/>
          </a:stretch>
        </p:blipFill>
        <p:spPr>
          <a:xfrm>
            <a:off x="822960" y="1783080"/>
            <a:ext cx="5120640" cy="2880360"/>
          </a:xfrm>
          <a:prstGeom prst="rect">
            <a:avLst/>
          </a:prstGeom>
        </p:spPr>
      </p:pic>
      <p:sp>
        <p:nvSpPr>
          <p:cNvPr id="6" name="Rounded Rectangle 5"/>
          <p:cNvSpPr/>
          <p:nvPr/>
        </p:nvSpPr>
        <p:spPr>
          <a:xfrm>
            <a:off x="6217920" y="1691640"/>
            <a:ext cx="5242255"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76495" cy="4206240"/>
          </a:xfrm>
          <a:prstGeom prst="rect">
            <a:avLst/>
          </a:prstGeom>
          <a:noFill/>
        </p:spPr>
        <p:txBody>
          <a:bodyPr wrap="square" lIns="0" tIns="0" rIns="0" bIns="0">
            <a:spAutoFit/>
          </a:bodyPr>
          <a:lstStyle/>
          <a:p>
            <a:pPr>
              <a:spcAft>
                <a:spcPts val="800"/>
              </a:spcAft>
              <a:defRPr sz="1100" b="1">
                <a:solidFill>
                  <a:srgbClr val="F43F5E"/>
                </a:solidFill>
              </a:defRPr>
            </a:pPr>
            <a:r>
              <a:t>VOLUMETRIC DEFICIT ANALYSIS</a:t>
            </a:r>
          </a:p>
          <a:p>
            <a:pPr>
              <a:defRPr sz="1000" b="1">
                <a:solidFill>
                  <a:srgbClr val="F43F5E"/>
                </a:solidFill>
              </a:defRPr>
            </a:pPr>
            <a:r>
              <a:t>⚠️ QUAD &amp; HAMSTRING HYPERTROPHY DEFICIT</a:t>
            </a:r>
          </a:p>
          <a:p>
            <a:pPr>
              <a:spcAft>
                <a:spcPts val="800"/>
              </a:spcAft>
              <a:defRPr sz="900">
                <a:solidFill>
                  <a:srgbClr val="94A3B8"/>
                </a:solidFill>
              </a:defRPr>
            </a:pPr>
            <a:r>
              <a:t>• Current Volume: Quads (~5 sets/wk vs MEV of 8), Hamstrings (~4 sets/wk vs MEV of 6).</a:t>
            </a:r>
            <a:br/>
            <a:r>
              <a:t>• Root Cause: Athlete intentionally throttles morning leg training due to fear of heavy legs during evening CrossFit workouts.</a:t>
            </a:r>
            <a:br/>
            <a:r>
              <a:t>• Consequence: Slower progression on Back Squat (80.0% ready) and reduced knee joint armor.</a:t>
            </a:r>
          </a:p>
          <a:p>
            <a:pPr>
              <a:defRPr sz="1000" b="1">
                <a:solidFill>
                  <a:srgbClr val="34D399"/>
                </a:solidFill>
              </a:defRPr>
            </a:pPr>
            <a:r>
              <a:t>✨ UPPER BODY ADAPTIVE SWEET SPOT</a:t>
            </a:r>
          </a:p>
          <a:p>
            <a:pPr>
              <a:spcAft>
                <a:spcPts val="800"/>
              </a:spcAft>
              <a:defRPr sz="900">
                <a:solidFill>
                  <a:srgbClr val="94A3B8"/>
                </a:solidFill>
              </a:defRPr>
            </a:pPr>
            <a:r>
              <a:t>• Lats/Back, Chest, and Shoulders track within the MAV (Maximum Adaptive Volume) range (14–18 weekly sets).</a:t>
            </a:r>
            <a:br/>
            <a:r>
              <a:t>• Bench Press (90kg) and Deadlift (144kg) benefit directly from this optimal volume stimulus.</a:t>
            </a:r>
          </a:p>
          <a:p>
            <a:pPr>
              <a:defRPr sz="1000" b="1">
                <a:solidFill>
                  <a:srgbClr val="38BDF8"/>
                </a:solidFill>
              </a:defRPr>
            </a:pPr>
            <a:r>
              <a:t>🛠️ ACTIONABLE PROGRAMMING CORRECTION:</a:t>
            </a:r>
          </a:p>
          <a:p>
            <a:pPr>
              <a:defRPr sz="900">
                <a:solidFill>
                  <a:srgbClr val="F8FAFC"/>
                </a:solidFill>
              </a:defRPr>
            </a:pPr>
            <a:r>
              <a:t>• Shift leg volume exclusively to machine-isolated eccentrics: 3 sets Seated Leg Curls + 3 sets Hack Squat/Leg Press.</a:t>
            </a:r>
            <a:br/>
            <a:r>
              <a:t>• Eliminates axial spinal compression while boosting weekly leg sets into the 10–12 MAV sweet spot.</a:t>
            </a:r>
          </a:p>
        </p:txBody>
      </p:sp>
      <p:sp>
        <p:nvSpPr>
          <p:cNvPr id="8" name="TextBox 7"/>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INJURY PREVENTION &amp; FATIGUE DYNAMICS</a:t>
            </a:r>
          </a:p>
          <a:p>
            <a:pPr>
              <a:spcAft>
                <a:spcPts val="300"/>
              </a:spcAft>
              <a:defRPr sz="2200" b="1">
                <a:solidFill>
                  <a:srgbClr val="F8FAFC"/>
                </a:solidFill>
              </a:defRPr>
            </a:pPr>
            <a:r>
              <a:t>Workload Dynamics: Acute:Chronic Workload Ratio (ACWR)</a:t>
            </a:r>
          </a:p>
          <a:p>
            <a:pPr>
              <a:defRPr sz="1100">
                <a:solidFill>
                  <a:srgbClr val="94A3B8"/>
                </a:solidFill>
              </a:defRPr>
            </a:pPr>
            <a:r>
              <a:t>Monitoring volume surges to prevent soft-tissue strain during aggressive two-a-day phases</a:t>
            </a:r>
          </a:p>
        </p:txBody>
      </p:sp>
      <p:sp>
        <p:nvSpPr>
          <p:cNvPr id="4" name="Rounded Rectangle 3"/>
          <p:cNvSpPr/>
          <p:nvPr/>
        </p:nvSpPr>
        <p:spPr>
          <a:xfrm>
            <a:off x="731520" y="1691640"/>
            <a:ext cx="530352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cwr_gauge.png"/>
          <p:cNvPicPr>
            <a:picLocks noChangeAspect="1"/>
          </p:cNvPicPr>
          <p:nvPr/>
        </p:nvPicPr>
        <p:blipFill>
          <a:blip r:embed="rId2"/>
          <a:stretch>
            <a:fillRect/>
          </a:stretch>
        </p:blipFill>
        <p:spPr>
          <a:xfrm>
            <a:off x="822960" y="1874519"/>
            <a:ext cx="5120640" cy="2530199"/>
          </a:xfrm>
          <a:prstGeom prst="rect">
            <a:avLst/>
          </a:prstGeom>
        </p:spPr>
      </p:pic>
      <p:sp>
        <p:nvSpPr>
          <p:cNvPr id="6" name="Rounded Rectangle 5"/>
          <p:cNvSpPr/>
          <p:nvPr/>
        </p:nvSpPr>
        <p:spPr>
          <a:xfrm>
            <a:off x="6217920" y="1691640"/>
            <a:ext cx="5242255"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76495" cy="4206240"/>
          </a:xfrm>
          <a:prstGeom prst="rect">
            <a:avLst/>
          </a:prstGeom>
          <a:noFill/>
        </p:spPr>
        <p:txBody>
          <a:bodyPr wrap="square" lIns="0" tIns="0" rIns="0" bIns="0">
            <a:spAutoFit/>
          </a:bodyPr>
          <a:lstStyle/>
          <a:p>
            <a:pPr>
              <a:spcAft>
                <a:spcPts val="800"/>
              </a:spcAft>
              <a:defRPr sz="1100" b="1">
                <a:solidFill>
                  <a:srgbClr val="F43F5E"/>
                </a:solidFill>
              </a:defRPr>
            </a:pPr>
            <a:r>
              <a:t>LIVE FATIGUE TELEMETRY &amp; DIAGNOSTICS</a:t>
            </a:r>
          </a:p>
          <a:p>
            <a:pPr>
              <a:spcAft>
                <a:spcPts val="600"/>
              </a:spcAft>
              <a:defRPr sz="950" b="1">
                <a:solidFill>
                  <a:srgbClr val="F8FAFC"/>
                </a:solidFill>
              </a:defRPr>
            </a:pPr>
            <a:r>
              <a:t>• Acute Workload (7-Day Sum): 5,696.4 kg tonnage</a:t>
            </a:r>
            <a:br/>
            <a:r>
              <a:t>• Chronic Workload (28-Day Rolling Avg): 3,262.1 kg tonnage</a:t>
            </a:r>
            <a:br/>
            <a:r>
              <a:t>• Acute:Chronic Workload Ratio (ACWR): 1.75 (HIGH INJURY RISK &gt; 1.50)</a:t>
            </a:r>
          </a:p>
          <a:p>
            <a:pPr>
              <a:defRPr sz="1000" b="1">
                <a:solidFill>
                  <a:srgbClr val="FACC15"/>
                </a:solidFill>
              </a:defRPr>
            </a:pPr>
            <a:r>
              <a:t>ANALYTIC CONTEXT:</a:t>
            </a:r>
          </a:p>
          <a:p>
            <a:pPr>
              <a:spcAft>
                <a:spcPts val="800"/>
              </a:spcAft>
              <a:defRPr sz="900">
                <a:solidFill>
                  <a:srgbClr val="94A3B8"/>
                </a:solidFill>
              </a:defRPr>
            </a:pPr>
            <a:r>
              <a:t>An ACWR of 1.75 indicates an uncoupled volume spike. The athlete has abruptly increased session intensity and sets faster than the chronic musculoskeletal base has adapted, elevating joint and connective tissue strain.</a:t>
            </a:r>
          </a:p>
          <a:p>
            <a:pPr>
              <a:defRPr sz="1000" b="1">
                <a:solidFill>
                  <a:srgbClr val="38BDF8"/>
                </a:solidFill>
              </a:defRPr>
            </a:pPr>
            <a:r>
              <a:t>🛡️ THE AUTOPILOT RECOVERY MODIFIER:</a:t>
            </a:r>
          </a:p>
          <a:p>
            <a:pPr>
              <a:defRPr sz="900">
                <a:solidFill>
                  <a:srgbClr val="F8FAFC"/>
                </a:solidFill>
              </a:defRPr>
            </a:pPr>
            <a:r>
              <a:t>1. Immediate 15% Tonnage Deload: Reduce morning gym working sets from 4 to 3 for the next 5 days.</a:t>
            </a:r>
            <a:br/>
            <a:r>
              <a:t>2. RPE Floor: Cap morning lifting at RPE 7.5; avoid true failure on compound presses.</a:t>
            </a:r>
            <a:br/>
            <a:r>
              <a:t>3. CrossFit Pacing: Keep evening WOD efforts at 85% aerobic threshold (Zone 2/3) to allow chronic capacity to catch up.</a:t>
            </a:r>
            <a:br/>
            <a:r>
              <a:t>4. Re-normalization Target: Bring ACWR back into the 0.8–1.3 sweet spot within 10 days.</a:t>
            </a:r>
          </a:p>
        </p:txBody>
      </p:sp>
      <p:sp>
        <p:nvSpPr>
          <p:cNvPr id="8" name="TextBox 7"/>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AEROBIC ENDURANCE &amp; THRESHOLD</a:t>
            </a:r>
          </a:p>
          <a:p>
            <a:pPr>
              <a:spcAft>
                <a:spcPts val="300"/>
              </a:spcAft>
              <a:defRPr sz="2200" b="1">
                <a:solidFill>
                  <a:srgbClr val="F8FAFC"/>
                </a:solidFill>
              </a:defRPr>
            </a:pPr>
            <a:r>
              <a:t>Garmin Running Telemetry &amp; Conditioning Engine</a:t>
            </a:r>
          </a:p>
          <a:p>
            <a:pPr>
              <a:defRPr sz="1100">
                <a:solidFill>
                  <a:srgbClr val="94A3B8"/>
                </a:solidFill>
              </a:defRPr>
            </a:pPr>
            <a:r>
              <a:t>Building an elite aerobic engine to support heavy lactic efforts in the ATHX arena</a:t>
            </a:r>
          </a:p>
        </p:txBody>
      </p:sp>
      <p:sp>
        <p:nvSpPr>
          <p:cNvPr id="4" name="Rounded Rectangle 3"/>
          <p:cNvSpPr/>
          <p:nvPr/>
        </p:nvSpPr>
        <p:spPr>
          <a:xfrm>
            <a:off x="731520"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56232"/>
            <a:ext cx="3099816" cy="4197096"/>
          </a:xfrm>
          <a:prstGeom prst="rect">
            <a:avLst/>
          </a:prstGeom>
          <a:noFill/>
        </p:spPr>
        <p:txBody>
          <a:bodyPr wrap="square" lIns="0" tIns="0" rIns="0" bIns="0">
            <a:spAutoFit/>
          </a:bodyPr>
          <a:lstStyle/>
          <a:p>
            <a:pPr>
              <a:spcAft>
                <a:spcPts val="200"/>
              </a:spcAft>
              <a:defRPr sz="850" b="1">
                <a:solidFill>
                  <a:srgbClr val="38BDF8"/>
                </a:solidFill>
              </a:defRPr>
            </a:pPr>
            <a:r>
              <a:t>DISCIPLINE 1 • 5KM PACE</a:t>
            </a:r>
          </a:p>
          <a:p>
            <a:pPr>
              <a:spcAft>
                <a:spcPts val="1000"/>
              </a:spcAft>
              <a:defRPr sz="1300" b="1">
                <a:solidFill>
                  <a:srgbClr val="F8FAFC"/>
                </a:solidFill>
              </a:defRPr>
            </a:pPr>
            <a:r>
              <a:t>5km Running Progression</a:t>
            </a:r>
          </a:p>
          <a:p>
            <a:pPr>
              <a:spcAft>
                <a:spcPts val="800"/>
              </a:spcAft>
              <a:defRPr sz="950">
                <a:solidFill>
                  <a:srgbClr val="94A3B8"/>
                </a:solidFill>
              </a:defRPr>
            </a:pPr>
            <a:r>
              <a:t>• Current Garmin Pace: 5:31 / km (27:35 equivalent).</a:t>
            </a:r>
          </a:p>
          <a:p>
            <a:pPr>
              <a:spcAft>
                <a:spcPts val="800"/>
              </a:spcAft>
              <a:defRPr sz="950">
                <a:solidFill>
                  <a:srgbClr val="94A3B8"/>
                </a:solidFill>
              </a:defRPr>
            </a:pPr>
            <a:r>
              <a:t>• ATHX Non-Pro Standard: 4:30 / km (22:30 equivalent).</a:t>
            </a:r>
          </a:p>
          <a:p>
            <a:pPr>
              <a:spcAft>
                <a:spcPts val="800"/>
              </a:spcAft>
              <a:defRPr sz="950">
                <a:solidFill>
                  <a:srgbClr val="94A3B8"/>
                </a:solidFill>
              </a:defRPr>
            </a:pPr>
            <a:r>
              <a:t>• Current Readiness: 81.6% of competition target.</a:t>
            </a:r>
          </a:p>
          <a:p>
            <a:pPr>
              <a:spcAft>
                <a:spcPts val="800"/>
              </a:spcAft>
              <a:defRPr sz="950">
                <a:solidFill>
                  <a:srgbClr val="94A3B8"/>
                </a:solidFill>
              </a:defRPr>
            </a:pPr>
            <a:r>
              <a:t>• Gap: +61 seconds per km.</a:t>
            </a:r>
          </a:p>
          <a:p>
            <a:pPr>
              <a:spcAft>
                <a:spcPts val="800"/>
              </a:spcAft>
              <a:defRPr sz="950">
                <a:solidFill>
                  <a:srgbClr val="94A3B8"/>
                </a:solidFill>
              </a:defRPr>
            </a:pPr>
            <a:r>
              <a:t>• Required Weekly Rate: -1.78 s/km per week across the remaining 34 weeks.</a:t>
            </a:r>
          </a:p>
          <a:p>
            <a:pPr>
              <a:spcAft>
                <a:spcPts val="800"/>
              </a:spcAft>
              <a:defRPr sz="950">
                <a:solidFill>
                  <a:srgbClr val="94A3B8"/>
                </a:solidFill>
              </a:defRPr>
            </a:pPr>
            <a:r>
              <a:t>• Focus: Weekly lactate threshold intervals (4x1000m @ 4:40/km) + weekend steady aerobic run.</a:t>
            </a:r>
          </a:p>
        </p:txBody>
      </p:sp>
      <p:sp>
        <p:nvSpPr>
          <p:cNvPr id="6" name="Rounded Rectangle 5"/>
          <p:cNvSpPr/>
          <p:nvPr/>
        </p:nvSpPr>
        <p:spPr>
          <a:xfrm>
            <a:off x="4379976"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1856232"/>
            <a:ext cx="3099816" cy="4197096"/>
          </a:xfrm>
          <a:prstGeom prst="rect">
            <a:avLst/>
          </a:prstGeom>
          <a:noFill/>
        </p:spPr>
        <p:txBody>
          <a:bodyPr wrap="square" lIns="0" tIns="0" rIns="0" bIns="0">
            <a:spAutoFit/>
          </a:bodyPr>
          <a:lstStyle/>
          <a:p>
            <a:pPr>
              <a:spcAft>
                <a:spcPts val="200"/>
              </a:spcAft>
              <a:defRPr sz="850" b="1">
                <a:solidFill>
                  <a:srgbClr val="A78BFA"/>
                </a:solidFill>
              </a:defRPr>
            </a:pPr>
            <a:r>
              <a:t>DISCIPLINE 2 • CARDIOVASCULAR</a:t>
            </a:r>
          </a:p>
          <a:p>
            <a:pPr>
              <a:spcAft>
                <a:spcPts val="1000"/>
              </a:spcAft>
              <a:defRPr sz="1300" b="1">
                <a:solidFill>
                  <a:srgbClr val="F8FAFC"/>
                </a:solidFill>
              </a:defRPr>
            </a:pPr>
            <a:r>
              <a:t>VO2 Max &amp; Aerobic Base</a:t>
            </a:r>
          </a:p>
          <a:p>
            <a:pPr>
              <a:spcAft>
                <a:spcPts val="800"/>
              </a:spcAft>
              <a:defRPr sz="950">
                <a:solidFill>
                  <a:srgbClr val="94A3B8"/>
                </a:solidFill>
              </a:defRPr>
            </a:pPr>
            <a:r>
              <a:t>• Garmin VO2 Max: 51.0 ml/kg/min.</a:t>
            </a:r>
          </a:p>
          <a:p>
            <a:pPr>
              <a:spcAft>
                <a:spcPts val="800"/>
              </a:spcAft>
              <a:defRPr sz="950">
                <a:solidFill>
                  <a:srgbClr val="94A3B8"/>
                </a:solidFill>
              </a:defRPr>
            </a:pPr>
            <a:r>
              <a:t>• Placement: Upper quartile for hybrid strength athletes weighing ~80 kg.</a:t>
            </a:r>
          </a:p>
          <a:p>
            <a:pPr>
              <a:spcAft>
                <a:spcPts val="800"/>
              </a:spcAft>
              <a:defRPr sz="950">
                <a:solidFill>
                  <a:srgbClr val="94A3B8"/>
                </a:solidFill>
              </a:defRPr>
            </a:pPr>
            <a:r>
              <a:t>• Aerobic Efficiency: Low cardiac drift during steady-state Zone 2 work.</a:t>
            </a:r>
          </a:p>
          <a:p>
            <a:pPr>
              <a:spcAft>
                <a:spcPts val="800"/>
              </a:spcAft>
              <a:defRPr sz="950">
                <a:solidFill>
                  <a:srgbClr val="94A3B8"/>
                </a:solidFill>
              </a:defRPr>
            </a:pPr>
            <a:r>
              <a:t>• Mitochondrial Density: Enables rapid intra-set phosphocreatine resynthesis between heavy barbell lifts.</a:t>
            </a:r>
          </a:p>
          <a:p>
            <a:pPr>
              <a:spcAft>
                <a:spcPts val="800"/>
              </a:spcAft>
              <a:defRPr sz="950">
                <a:solidFill>
                  <a:srgbClr val="94A3B8"/>
                </a:solidFill>
              </a:defRPr>
            </a:pPr>
            <a:r>
              <a:t>• Direct correlation to Sandbag Carry and S2O interval stamina under fatigue.</a:t>
            </a:r>
          </a:p>
        </p:txBody>
      </p:sp>
      <p:sp>
        <p:nvSpPr>
          <p:cNvPr id="8" name="Rounded Rectangle 7"/>
          <p:cNvSpPr/>
          <p:nvPr/>
        </p:nvSpPr>
        <p:spPr>
          <a:xfrm>
            <a:off x="8028432"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4" y="1856232"/>
            <a:ext cx="3099816" cy="4197096"/>
          </a:xfrm>
          <a:prstGeom prst="rect">
            <a:avLst/>
          </a:prstGeom>
          <a:noFill/>
        </p:spPr>
        <p:txBody>
          <a:bodyPr wrap="square" lIns="0" tIns="0" rIns="0" bIns="0">
            <a:spAutoFit/>
          </a:bodyPr>
          <a:lstStyle/>
          <a:p>
            <a:pPr>
              <a:spcAft>
                <a:spcPts val="200"/>
              </a:spcAft>
              <a:defRPr sz="850" b="1">
                <a:solidFill>
                  <a:srgbClr val="34D399"/>
                </a:solidFill>
              </a:defRPr>
            </a:pPr>
            <a:r>
              <a:t>DISCIPLINE 3 • CROSSFIT WODS</a:t>
            </a:r>
          </a:p>
          <a:p>
            <a:pPr>
              <a:spcAft>
                <a:spcPts val="1000"/>
              </a:spcAft>
              <a:defRPr sz="1300" b="1">
                <a:solidFill>
                  <a:srgbClr val="F8FAFC"/>
                </a:solidFill>
              </a:defRPr>
            </a:pPr>
            <a:r>
              <a:t>Hybrid Metabolic Integration</a:t>
            </a:r>
          </a:p>
          <a:p>
            <a:pPr>
              <a:spcAft>
                <a:spcPts val="800"/>
              </a:spcAft>
              <a:defRPr sz="950">
                <a:solidFill>
                  <a:srgbClr val="94A3B8"/>
                </a:solidFill>
              </a:defRPr>
            </a:pPr>
            <a:r>
              <a:t>• Two-A-Days: Tuesday and Thursday evenings reserved for high-intensity CrossFit.</a:t>
            </a:r>
          </a:p>
          <a:p>
            <a:pPr>
              <a:spcAft>
                <a:spcPts val="800"/>
              </a:spcAft>
              <a:defRPr sz="950">
                <a:solidFill>
                  <a:srgbClr val="94A3B8"/>
                </a:solidFill>
              </a:defRPr>
            </a:pPr>
            <a:r>
              <a:t>• Lactic Buffering: WODs simulate the multi-station lactic accumulation of the ATHX Games.</a:t>
            </a:r>
          </a:p>
          <a:p>
            <a:pPr>
              <a:spcAft>
                <a:spcPts val="800"/>
              </a:spcAft>
              <a:defRPr sz="950">
                <a:solidFill>
                  <a:srgbClr val="94A3B8"/>
                </a:solidFill>
              </a:defRPr>
            </a:pPr>
            <a:r>
              <a:t>• Pre-WOD Fatigue Management: Morning sessions strictly avoid lower back and front delts.</a:t>
            </a:r>
          </a:p>
          <a:p>
            <a:pPr>
              <a:spcAft>
                <a:spcPts val="800"/>
              </a:spcAft>
              <a:defRPr sz="950">
                <a:solidFill>
                  <a:srgbClr val="94A3B8"/>
                </a:solidFill>
              </a:defRPr>
            </a:pPr>
            <a:r>
              <a:t>• Post-WOD Refueling: Immediate 4:1 carb-to-protein liquid fueling for next-day recovery.</a:t>
            </a:r>
          </a:p>
        </p:txBody>
      </p:sp>
      <p:sp>
        <p:nvSpPr>
          <p:cNvPr id="10" name="TextBox 9"/>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NUTRITION &amp; METABOLIC FUELING</a:t>
            </a:r>
          </a:p>
          <a:p>
            <a:pPr>
              <a:spcAft>
                <a:spcPts val="300"/>
              </a:spcAft>
              <a:defRPr sz="2200" b="1">
                <a:solidFill>
                  <a:srgbClr val="F8FAFC"/>
                </a:solidFill>
              </a:defRPr>
            </a:pPr>
            <a:r>
              <a:t>Mass Hypertrophy Protocol: 79.0 kg → 85.0 kg</a:t>
            </a:r>
          </a:p>
          <a:p>
            <a:pPr>
              <a:defRPr sz="1100">
                <a:solidFill>
                  <a:srgbClr val="94A3B8"/>
                </a:solidFill>
              </a:defRPr>
            </a:pPr>
            <a:r>
              <a:t>Caloric surplus, macro cycling, and strict dietary guardrails for lean mass gain</a:t>
            </a:r>
          </a:p>
        </p:txBody>
      </p:sp>
      <p:sp>
        <p:nvSpPr>
          <p:cNvPr id="4" name="Rounded Rectangle 3"/>
          <p:cNvSpPr/>
          <p:nvPr/>
        </p:nvSpPr>
        <p:spPr>
          <a:xfrm>
            <a:off x="731520" y="1691640"/>
            <a:ext cx="530352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dy_recomp.png"/>
          <p:cNvPicPr>
            <a:picLocks noChangeAspect="1"/>
          </p:cNvPicPr>
          <p:nvPr/>
        </p:nvPicPr>
        <p:blipFill>
          <a:blip r:embed="rId2"/>
          <a:stretch>
            <a:fillRect/>
          </a:stretch>
        </p:blipFill>
        <p:spPr>
          <a:xfrm>
            <a:off x="822960" y="1783080"/>
            <a:ext cx="5120640" cy="2880360"/>
          </a:xfrm>
          <a:prstGeom prst="rect">
            <a:avLst/>
          </a:prstGeom>
        </p:spPr>
      </p:pic>
      <p:sp>
        <p:nvSpPr>
          <p:cNvPr id="6" name="Rounded Rectangle 5"/>
          <p:cNvSpPr/>
          <p:nvPr/>
        </p:nvSpPr>
        <p:spPr>
          <a:xfrm>
            <a:off x="6217920" y="1691640"/>
            <a:ext cx="5242255"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76495" cy="4206240"/>
          </a:xfrm>
          <a:prstGeom prst="rect">
            <a:avLst/>
          </a:prstGeom>
          <a:noFill/>
        </p:spPr>
        <p:txBody>
          <a:bodyPr wrap="square" lIns="0" tIns="0" rIns="0" bIns="0">
            <a:spAutoFit/>
          </a:bodyPr>
          <a:lstStyle/>
          <a:p>
            <a:pPr>
              <a:spcAft>
                <a:spcPts val="800"/>
              </a:spcAft>
              <a:defRPr sz="1100" b="1">
                <a:solidFill>
                  <a:srgbClr val="FACC15"/>
                </a:solidFill>
              </a:defRPr>
            </a:pPr>
            <a:r>
              <a:t>DIETARY ALIGNMENT &amp; MACRO CYCLING</a:t>
            </a:r>
          </a:p>
          <a:p>
            <a:pPr>
              <a:spcAft>
                <a:spcPts val="800"/>
              </a:spcAft>
              <a:defRPr sz="950">
                <a:solidFill>
                  <a:srgbClr val="F8FAFC"/>
                </a:solidFill>
              </a:defRPr>
            </a:pPr>
            <a:r>
              <a:t>1. CALORIC SURPLUS TARGETS:</a:t>
            </a:r>
            <a:br/>
            <a:r>
              <a:t>   • Training Days (Mon/Fri): ~3,100 kcal (High Carb ~350g, Protein 160-180g)</a:t>
            </a:r>
            <a:br/>
            <a:r>
              <a:t>   • Two-A-Days (Tue/Thu): ~3,500 kcal (Very High Carb ~450g+, Protein 160-180g)</a:t>
            </a:r>
            <a:br/>
            <a:r>
              <a:t>   • Rest Days (Wed/Sat/Sun): ~2,700 kcal (Moderate Carb ~200g, Protein 160g)</a:t>
            </a:r>
          </a:p>
          <a:p>
            <a:pPr>
              <a:spcAft>
                <a:spcPts val="800"/>
              </a:spcAft>
              <a:defRPr sz="900">
                <a:solidFill>
                  <a:srgbClr val="38BDF8"/>
                </a:solidFill>
              </a:defRPr>
            </a:pPr>
            <a:r>
              <a:t>2. THE SKYR PRIORITY RULE:</a:t>
            </a:r>
            <a:br/>
            <a:r>
              <a:t>   • Strong baseline preference for Skyr over all Greek yogurt and cottage cheese alternatives.</a:t>
            </a:r>
            <a:br/>
            <a:r>
              <a:t>   • Default protein-dense snack and breakfast base for muscle protein synthesis.</a:t>
            </a:r>
          </a:p>
          <a:p>
            <a:pPr>
              <a:spcAft>
                <a:spcPts val="800"/>
              </a:spcAft>
              <a:defRPr sz="900">
                <a:solidFill>
                  <a:srgbClr val="34D399"/>
                </a:solidFill>
              </a:defRPr>
            </a:pPr>
            <a:r>
              <a:t>3. STRICT MEAT RESTRICTION (MAX 2 MEALS / WEEK):</a:t>
            </a:r>
            <a:br/>
            <a:r>
              <a:t>   • Meat consumption strictly limited to ≤ 2 meals per rolling 7-day period.</a:t>
            </a:r>
            <a:br/>
            <a:r>
              <a:t>   • Primary protein sources: Salmon, tuna, white fish, eggs, Skyr, and whey/casein.</a:t>
            </a:r>
          </a:p>
          <a:p>
            <a:pPr>
              <a:defRPr sz="900">
                <a:solidFill>
                  <a:srgbClr val="A78BFA"/>
                </a:solidFill>
              </a:defRPr>
            </a:pPr>
            <a:r>
              <a:t>4. CARB-TO-PROTEIN FUELING RATIO:</a:t>
            </a:r>
            <a:br/>
            <a:r>
              <a:t>   • Maintain Carb:Protein ratio ≥ 1.5–2.0 on double days to ensure glycogen supercompensation.</a:t>
            </a:r>
          </a:p>
        </p:txBody>
      </p:sp>
      <p:sp>
        <p:nvSpPr>
          <p:cNvPr id="8" name="TextBox 7"/>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RECOVERY &amp; AUTONOMIC HEALTH</a:t>
            </a:r>
          </a:p>
          <a:p>
            <a:pPr>
              <a:spcAft>
                <a:spcPts val="300"/>
              </a:spcAft>
              <a:defRPr sz="2200" b="1">
                <a:solidFill>
                  <a:srgbClr val="F8FAFC"/>
                </a:solidFill>
              </a:defRPr>
            </a:pPr>
            <a:r>
              <a:t>Sleep Architecture, Resting HR &amp; Recovery Composite</a:t>
            </a:r>
          </a:p>
          <a:p>
            <a:pPr>
              <a:defRPr sz="1100">
                <a:solidFill>
                  <a:srgbClr val="94A3B8"/>
                </a:solidFill>
              </a:defRPr>
            </a:pPr>
            <a:r>
              <a:t>Multi-factorial biometric telemetry for optimal nervous system restoration</a:t>
            </a:r>
          </a:p>
        </p:txBody>
      </p:sp>
      <p:sp>
        <p:nvSpPr>
          <p:cNvPr id="4" name="Rounded Rectangle 3"/>
          <p:cNvSpPr/>
          <p:nvPr/>
        </p:nvSpPr>
        <p:spPr>
          <a:xfrm>
            <a:off x="731520"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56232"/>
            <a:ext cx="3099816" cy="4197096"/>
          </a:xfrm>
          <a:prstGeom prst="rect">
            <a:avLst/>
          </a:prstGeom>
          <a:noFill/>
        </p:spPr>
        <p:txBody>
          <a:bodyPr wrap="square" lIns="0" tIns="0" rIns="0" bIns="0">
            <a:spAutoFit/>
          </a:bodyPr>
          <a:lstStyle/>
          <a:p>
            <a:pPr>
              <a:spcAft>
                <a:spcPts val="200"/>
              </a:spcAft>
              <a:defRPr sz="850" b="1">
                <a:solidFill>
                  <a:srgbClr val="A78BFA"/>
                </a:solidFill>
              </a:defRPr>
            </a:pPr>
            <a:r>
              <a:t>PILLAR 1 • SLEEP HYGIENE</a:t>
            </a:r>
          </a:p>
          <a:p>
            <a:pPr>
              <a:spcAft>
                <a:spcPts val="1000"/>
              </a:spcAft>
              <a:defRPr sz="1300" b="1">
                <a:solidFill>
                  <a:srgbClr val="F8FAFC"/>
                </a:solidFill>
              </a:defRPr>
            </a:pPr>
            <a:r>
              <a:t>Sleep Architecture &amp; Quality</a:t>
            </a:r>
          </a:p>
          <a:p>
            <a:pPr>
              <a:spcAft>
                <a:spcPts val="800"/>
              </a:spcAft>
              <a:defRPr sz="950">
                <a:solidFill>
                  <a:srgbClr val="94A3B8"/>
                </a:solidFill>
              </a:defRPr>
            </a:pPr>
            <a:r>
              <a:t>• Average Sleep Duration: 7.0 Hours.</a:t>
            </a:r>
          </a:p>
          <a:p>
            <a:pPr>
              <a:spcAft>
                <a:spcPts val="800"/>
              </a:spcAft>
              <a:defRPr sz="950">
                <a:solidFill>
                  <a:srgbClr val="94A3B8"/>
                </a:solidFill>
              </a:defRPr>
            </a:pPr>
            <a:r>
              <a:t>• Rigorous Data Cleaning: Outlier nights (&gt;14h) and non-wear periods (&lt;3h) filtered out.</a:t>
            </a:r>
          </a:p>
          <a:p>
            <a:pPr>
              <a:spcAft>
                <a:spcPts val="800"/>
              </a:spcAft>
              <a:defRPr sz="950">
                <a:solidFill>
                  <a:srgbClr val="94A3B8"/>
                </a:solidFill>
              </a:defRPr>
            </a:pPr>
            <a:r>
              <a:t>• Circadian Regularity: Consistent bedtime window supporting deep slow-wave sleep.</a:t>
            </a:r>
          </a:p>
          <a:p>
            <a:pPr>
              <a:spcAft>
                <a:spcPts val="800"/>
              </a:spcAft>
              <a:defRPr sz="950">
                <a:solidFill>
                  <a:srgbClr val="94A3B8"/>
                </a:solidFill>
              </a:defRPr>
            </a:pPr>
            <a:r>
              <a:t>• Growth Hormone Secretion: Maximizes muscle tissue repair from high-tonnage lifting.</a:t>
            </a:r>
          </a:p>
          <a:p>
            <a:pPr>
              <a:spcAft>
                <a:spcPts val="800"/>
              </a:spcAft>
              <a:defRPr sz="950">
                <a:solidFill>
                  <a:srgbClr val="94A3B8"/>
                </a:solidFill>
              </a:defRPr>
            </a:pPr>
            <a:r>
              <a:t>• Apple Watch accelerometer &amp; optical sensor tracking.</a:t>
            </a:r>
          </a:p>
        </p:txBody>
      </p:sp>
      <p:sp>
        <p:nvSpPr>
          <p:cNvPr id="6" name="Rounded Rectangle 5"/>
          <p:cNvSpPr/>
          <p:nvPr/>
        </p:nvSpPr>
        <p:spPr>
          <a:xfrm>
            <a:off x="4379976"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1856232"/>
            <a:ext cx="3099816" cy="4197096"/>
          </a:xfrm>
          <a:prstGeom prst="rect">
            <a:avLst/>
          </a:prstGeom>
          <a:noFill/>
        </p:spPr>
        <p:txBody>
          <a:bodyPr wrap="square" lIns="0" tIns="0" rIns="0" bIns="0">
            <a:spAutoFit/>
          </a:bodyPr>
          <a:lstStyle/>
          <a:p>
            <a:pPr>
              <a:spcAft>
                <a:spcPts val="200"/>
              </a:spcAft>
              <a:defRPr sz="850" b="1">
                <a:solidFill>
                  <a:srgbClr val="38BDF8"/>
                </a:solidFill>
              </a:defRPr>
            </a:pPr>
            <a:r>
              <a:t>PILLAR 2 • CARDIOVASCULAR</a:t>
            </a:r>
          </a:p>
          <a:p>
            <a:pPr>
              <a:spcAft>
                <a:spcPts val="1000"/>
              </a:spcAft>
              <a:defRPr sz="1300" b="1">
                <a:solidFill>
                  <a:srgbClr val="F8FAFC"/>
                </a:solidFill>
              </a:defRPr>
            </a:pPr>
            <a:r>
              <a:t>Resting Heart Rate &amp; HRV</a:t>
            </a:r>
          </a:p>
          <a:p>
            <a:pPr>
              <a:spcAft>
                <a:spcPts val="800"/>
              </a:spcAft>
              <a:defRPr sz="950">
                <a:solidFill>
                  <a:srgbClr val="94A3B8"/>
                </a:solidFill>
              </a:defRPr>
            </a:pPr>
            <a:r>
              <a:t>• Resting Heart Rate (RHR): 54.0 bpm.</a:t>
            </a:r>
          </a:p>
          <a:p>
            <a:pPr>
              <a:spcAft>
                <a:spcPts val="800"/>
              </a:spcAft>
              <a:defRPr sz="950">
                <a:solidFill>
                  <a:srgbClr val="94A3B8"/>
                </a:solidFill>
              </a:defRPr>
            </a:pPr>
            <a:r>
              <a:t>• Benchmark: Elite endurance athlete cardiovascular baseline.</a:t>
            </a:r>
          </a:p>
          <a:p>
            <a:pPr>
              <a:spcAft>
                <a:spcPts val="800"/>
              </a:spcAft>
              <a:defRPr sz="950">
                <a:solidFill>
                  <a:srgbClr val="94A3B8"/>
                </a:solidFill>
              </a:defRPr>
            </a:pPr>
            <a:r>
              <a:t>• Parasympathetic Tone: Strong vagal nerve activity indicating absence of chronic overtraining.</a:t>
            </a:r>
          </a:p>
          <a:p>
            <a:pPr>
              <a:spcAft>
                <a:spcPts val="800"/>
              </a:spcAft>
              <a:defRPr sz="950">
                <a:solidFill>
                  <a:srgbClr val="94A3B8"/>
                </a:solidFill>
              </a:defRPr>
            </a:pPr>
            <a:r>
              <a:t>• Heart Rate Recovery: Rapid deceleration following intense CrossFit metcons.</a:t>
            </a:r>
          </a:p>
          <a:p>
            <a:pPr>
              <a:spcAft>
                <a:spcPts val="800"/>
              </a:spcAft>
              <a:defRPr sz="950">
                <a:solidFill>
                  <a:srgbClr val="94A3B8"/>
                </a:solidFill>
              </a:defRPr>
            </a:pPr>
            <a:r>
              <a:t>• Monitored continuously via Apple Health mobility &amp; heart telemetry.</a:t>
            </a:r>
          </a:p>
        </p:txBody>
      </p:sp>
      <p:sp>
        <p:nvSpPr>
          <p:cNvPr id="8" name="Rounded Rectangle 7"/>
          <p:cNvSpPr/>
          <p:nvPr/>
        </p:nvSpPr>
        <p:spPr>
          <a:xfrm>
            <a:off x="8028432" y="1691640"/>
            <a:ext cx="34290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4" y="1856232"/>
            <a:ext cx="3099816" cy="4197096"/>
          </a:xfrm>
          <a:prstGeom prst="rect">
            <a:avLst/>
          </a:prstGeom>
          <a:noFill/>
        </p:spPr>
        <p:txBody>
          <a:bodyPr wrap="square" lIns="0" tIns="0" rIns="0" bIns="0">
            <a:spAutoFit/>
          </a:bodyPr>
          <a:lstStyle/>
          <a:p>
            <a:pPr>
              <a:spcAft>
                <a:spcPts val="200"/>
              </a:spcAft>
              <a:defRPr sz="850" b="1">
                <a:solidFill>
                  <a:srgbClr val="34D399"/>
                </a:solidFill>
              </a:defRPr>
            </a:pPr>
            <a:r>
              <a:t>PILLAR 3 • READINESS</a:t>
            </a:r>
          </a:p>
          <a:p>
            <a:pPr>
              <a:spcAft>
                <a:spcPts val="1000"/>
              </a:spcAft>
              <a:defRPr sz="1300" b="1">
                <a:solidFill>
                  <a:srgbClr val="F8FAFC"/>
                </a:solidFill>
              </a:defRPr>
            </a:pPr>
            <a:r>
              <a:t>Composite Recovery Score</a:t>
            </a:r>
          </a:p>
          <a:p>
            <a:pPr>
              <a:spcAft>
                <a:spcPts val="800"/>
              </a:spcAft>
              <a:defRPr sz="950">
                <a:solidFill>
                  <a:srgbClr val="94A3B8"/>
                </a:solidFill>
              </a:defRPr>
            </a:pPr>
            <a:r>
              <a:t>• Current Score: 96.7% Readiness.</a:t>
            </a:r>
          </a:p>
          <a:p>
            <a:pPr>
              <a:spcAft>
                <a:spcPts val="800"/>
              </a:spcAft>
              <a:defRPr sz="950">
                <a:solidFill>
                  <a:srgbClr val="94A3B8"/>
                </a:solidFill>
              </a:defRPr>
            </a:pPr>
            <a:r>
              <a:t>• Transparent 5-Component Algorithm:</a:t>
            </a:r>
          </a:p>
          <a:p>
            <a:pPr>
              <a:spcAft>
                <a:spcPts val="800"/>
              </a:spcAft>
              <a:defRPr sz="950">
                <a:solidFill>
                  <a:srgbClr val="94A3B8"/>
                </a:solidFill>
              </a:defRPr>
            </a:pPr>
            <a:r>
              <a:t>• 1. RHR Deviation from 28-day baseline (25%).</a:t>
            </a:r>
          </a:p>
          <a:p>
            <a:pPr>
              <a:spcAft>
                <a:spcPts val="800"/>
              </a:spcAft>
              <a:defRPr sz="950">
                <a:solidFill>
                  <a:srgbClr val="94A3B8"/>
                </a:solidFill>
              </a:defRPr>
            </a:pPr>
            <a:r>
              <a:t>• 2. Validated sleep duration &amp; efficiency (30%).</a:t>
            </a:r>
          </a:p>
          <a:p>
            <a:pPr>
              <a:spcAft>
                <a:spcPts val="800"/>
              </a:spcAft>
              <a:defRPr sz="950">
                <a:solidFill>
                  <a:srgbClr val="94A3B8"/>
                </a:solidFill>
              </a:defRPr>
            </a:pPr>
            <a:r>
              <a:t>• 3. ACWR acute stress modifier (20%).</a:t>
            </a:r>
          </a:p>
          <a:p>
            <a:pPr>
              <a:spcAft>
                <a:spcPts val="800"/>
              </a:spcAft>
              <a:defRPr sz="950">
                <a:solidFill>
                  <a:srgbClr val="94A3B8"/>
                </a:solidFill>
              </a:defRPr>
            </a:pPr>
            <a:r>
              <a:t>• 4. Mobility &amp; joint stability markers (15%).</a:t>
            </a:r>
          </a:p>
          <a:p>
            <a:pPr>
              <a:spcAft>
                <a:spcPts val="800"/>
              </a:spcAft>
              <a:defRPr sz="950">
                <a:solidFill>
                  <a:srgbClr val="94A3B8"/>
                </a:solidFill>
              </a:defRPr>
            </a:pPr>
            <a:r>
              <a:t>• 5. Subjective Autopilot recovery status (10%).</a:t>
            </a:r>
          </a:p>
        </p:txBody>
      </p:sp>
      <p:sp>
        <p:nvSpPr>
          <p:cNvPr id="10" name="TextBox 9"/>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DATA ENGINEERING &amp; RELIABILITY</a:t>
            </a:r>
          </a:p>
          <a:p>
            <a:pPr>
              <a:spcAft>
                <a:spcPts val="300"/>
              </a:spcAft>
              <a:defRPr sz="2200" b="1">
                <a:solidFill>
                  <a:srgbClr val="F8FAFC"/>
                </a:solidFill>
              </a:defRPr>
            </a:pPr>
            <a:r>
              <a:t>Zero-Hardcoded Architecture &amp; Data Provenance</a:t>
            </a:r>
          </a:p>
          <a:p>
            <a:pPr>
              <a:defRPr sz="1100">
                <a:solidFill>
                  <a:srgbClr val="94A3B8"/>
                </a:solidFill>
              </a:defRPr>
            </a:pPr>
            <a:r>
              <a:t>Automated anomaly filtering, split disambiguation, and fully auditable JSON reports</a:t>
            </a:r>
          </a:p>
        </p:txBody>
      </p:sp>
      <p:sp>
        <p:nvSpPr>
          <p:cNvPr id="4" name="Rounded Rectangle 3"/>
          <p:cNvSpPr/>
          <p:nvPr/>
        </p:nvSpPr>
        <p:spPr>
          <a:xfrm>
            <a:off x="731520" y="1691640"/>
            <a:ext cx="5242255" cy="2148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28800"/>
            <a:ext cx="4913071" cy="1874520"/>
          </a:xfrm>
          <a:prstGeom prst="rect">
            <a:avLst/>
          </a:prstGeom>
          <a:noFill/>
        </p:spPr>
        <p:txBody>
          <a:bodyPr wrap="square" lIns="0" tIns="0" rIns="0" bIns="0">
            <a:spAutoFit/>
          </a:bodyPr>
          <a:lstStyle/>
          <a:p>
            <a:pPr>
              <a:spcAft>
                <a:spcPts val="200"/>
              </a:spcAft>
              <a:defRPr sz="850" b="1">
                <a:solidFill>
                  <a:srgbClr val="38BDF8"/>
                </a:solidFill>
              </a:defRPr>
            </a:pPr>
            <a:r>
              <a:t>PILLAR 1 • TEMPORAL FLOOR</a:t>
            </a:r>
          </a:p>
          <a:p>
            <a:pPr>
              <a:spcAft>
                <a:spcPts val="600"/>
              </a:spcAft>
              <a:defRPr sz="1300" b="1">
                <a:solidFill>
                  <a:srgbClr val="F8FAFC"/>
                </a:solidFill>
              </a:defRPr>
            </a:pPr>
            <a:r>
              <a:t>Strict Data Floor: 2026-05-01</a:t>
            </a:r>
          </a:p>
          <a:p>
            <a:pPr>
              <a:defRPr sz="950">
                <a:solidFill>
                  <a:srgbClr val="94A3B8"/>
                </a:solidFill>
              </a:defRPr>
            </a:pPr>
            <a:r>
              <a:t>Enforces a strict analysis boundary at 2026-05-01. Excludes corrupt legacy files and incomplete logs while preserving a 28-day chronic baseline lookback to guarantee mathematical ACWR accuracy from day one.</a:t>
            </a:r>
          </a:p>
        </p:txBody>
      </p:sp>
      <p:sp>
        <p:nvSpPr>
          <p:cNvPr id="6" name="Rounded Rectangle 5"/>
          <p:cNvSpPr/>
          <p:nvPr/>
        </p:nvSpPr>
        <p:spPr>
          <a:xfrm>
            <a:off x="6217920" y="1691640"/>
            <a:ext cx="5242255" cy="2148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828800"/>
            <a:ext cx="4913071" cy="1874520"/>
          </a:xfrm>
          <a:prstGeom prst="rect">
            <a:avLst/>
          </a:prstGeom>
          <a:noFill/>
        </p:spPr>
        <p:txBody>
          <a:bodyPr wrap="square" lIns="0" tIns="0" rIns="0" bIns="0">
            <a:spAutoFit/>
          </a:bodyPr>
          <a:lstStyle/>
          <a:p>
            <a:pPr>
              <a:spcAft>
                <a:spcPts val="200"/>
              </a:spcAft>
              <a:defRPr sz="850" b="1">
                <a:solidFill>
                  <a:srgbClr val="FACC15"/>
                </a:solidFill>
              </a:defRPr>
            </a:pPr>
            <a:r>
              <a:t>PILLAR 2 • DISAMBIGUATION</a:t>
            </a:r>
          </a:p>
          <a:p>
            <a:pPr>
              <a:spcAft>
                <a:spcPts val="600"/>
              </a:spcAft>
              <a:defRPr sz="1300" b="1">
                <a:solidFill>
                  <a:srgbClr val="F8FAFC"/>
                </a:solidFill>
              </a:defRPr>
            </a:pPr>
            <a:r>
              <a:t>Garmin 'Press → Legs' Fix &amp; Imputation</a:t>
            </a:r>
          </a:p>
          <a:p>
            <a:pPr>
              <a:defRPr sz="950">
                <a:solidFill>
                  <a:srgbClr val="94A3B8"/>
                </a:solidFill>
              </a:defRPr>
            </a:pPr>
            <a:r>
              <a:t>Eliminates Garmin's known defect of categorizing 'press' variations as Leg workouts by evaluating the dominant session split. Imputes Unknown exercise sets using load signatures and historical movement patterns.</a:t>
            </a:r>
          </a:p>
        </p:txBody>
      </p:sp>
      <p:sp>
        <p:nvSpPr>
          <p:cNvPr id="8" name="Rounded Rectangle 7"/>
          <p:cNvSpPr/>
          <p:nvPr/>
        </p:nvSpPr>
        <p:spPr>
          <a:xfrm>
            <a:off x="731520" y="4069080"/>
            <a:ext cx="5242255" cy="2148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4913071" cy="1874520"/>
          </a:xfrm>
          <a:prstGeom prst="rect">
            <a:avLst/>
          </a:prstGeom>
          <a:noFill/>
        </p:spPr>
        <p:txBody>
          <a:bodyPr wrap="square" lIns="0" tIns="0" rIns="0" bIns="0">
            <a:spAutoFit/>
          </a:bodyPr>
          <a:lstStyle/>
          <a:p>
            <a:pPr>
              <a:spcAft>
                <a:spcPts val="200"/>
              </a:spcAft>
              <a:defRPr sz="850" b="1">
                <a:solidFill>
                  <a:srgbClr val="A78BFA"/>
                </a:solidFill>
              </a:defRPr>
            </a:pPr>
            <a:r>
              <a:t>PILLAR 3 • FORMULA INTEGRITY</a:t>
            </a:r>
          </a:p>
          <a:p>
            <a:pPr>
              <a:spcAft>
                <a:spcPts val="600"/>
              </a:spcAft>
              <a:defRPr sz="1300" b="1">
                <a:solidFill>
                  <a:srgbClr val="F8FAFC"/>
                </a:solidFill>
              </a:defRPr>
            </a:pPr>
            <a:r>
              <a:t>Restricted e1RM (Epley ≤ 10 Reps)</a:t>
            </a:r>
          </a:p>
          <a:p>
            <a:pPr>
              <a:defRPr sz="950">
                <a:solidFill>
                  <a:srgbClr val="94A3B8"/>
                </a:solidFill>
              </a:defRPr>
            </a:pPr>
            <a:r>
              <a:t>Prevents hyper-inflated 1RM projections. E1RM calculations are restricted exclusively to sets ≤ 10 reps on verified plausible loads. Sets of 15+ reps (cardio/endurance) are explicitly excluded from maximal strength models.</a:t>
            </a:r>
          </a:p>
        </p:txBody>
      </p:sp>
      <p:sp>
        <p:nvSpPr>
          <p:cNvPr id="10" name="Rounded Rectangle 9"/>
          <p:cNvSpPr/>
          <p:nvPr/>
        </p:nvSpPr>
        <p:spPr>
          <a:xfrm>
            <a:off x="6217920" y="4069080"/>
            <a:ext cx="5242255" cy="2148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4206240"/>
            <a:ext cx="4913071" cy="1874520"/>
          </a:xfrm>
          <a:prstGeom prst="rect">
            <a:avLst/>
          </a:prstGeom>
          <a:noFill/>
        </p:spPr>
        <p:txBody>
          <a:bodyPr wrap="square" lIns="0" tIns="0" rIns="0" bIns="0">
            <a:spAutoFit/>
          </a:bodyPr>
          <a:lstStyle/>
          <a:p>
            <a:pPr>
              <a:spcAft>
                <a:spcPts val="200"/>
              </a:spcAft>
              <a:defRPr sz="850" b="1">
                <a:solidFill>
                  <a:srgbClr val="34D399"/>
                </a:solidFill>
              </a:defRPr>
            </a:pPr>
            <a:r>
              <a:t>PILLAR 4 • AUDIT PANEL</a:t>
            </a:r>
          </a:p>
          <a:p>
            <a:pPr>
              <a:spcAft>
                <a:spcPts val="600"/>
              </a:spcAft>
              <a:defRPr sz="1300" b="1">
                <a:solidFill>
                  <a:srgbClr val="F8FAFC"/>
                </a:solidFill>
              </a:defRPr>
            </a:pPr>
            <a:r>
              <a:t>Interactive Audit Panel &amp; JSON Export</a:t>
            </a:r>
          </a:p>
          <a:p>
            <a:pPr>
              <a:defRPr sz="950">
                <a:solidFill>
                  <a:srgbClr val="94A3B8"/>
                </a:solidFill>
              </a:defRPr>
            </a:pPr>
            <a:r>
              <a:t>Zero hardcoded literals in HTML or dashboards. The interactive Tab 5 (Data Quality &amp; Audit Trail) logs all rejected sets, imputed exercises, and data provenance with a 1-click exportable JSON audit report.</a:t>
            </a:r>
          </a:p>
        </p:txBody>
      </p:sp>
      <p:sp>
        <p:nvSpPr>
          <p:cNvPr id="12" name="TextBox 11"/>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PERIODIZATION &amp; COMPETITION PEAKING</a:t>
            </a:r>
          </a:p>
          <a:p>
            <a:pPr>
              <a:spcAft>
                <a:spcPts val="300"/>
              </a:spcAft>
              <a:defRPr sz="2200" b="1">
                <a:solidFill>
                  <a:srgbClr val="F8FAFC"/>
                </a:solidFill>
              </a:defRPr>
            </a:pPr>
            <a:r>
              <a:t>34-Week Macrocycle Roadmap to the ATHX Games 2027</a:t>
            </a:r>
          </a:p>
          <a:p>
            <a:pPr>
              <a:defRPr sz="1100">
                <a:solidFill>
                  <a:srgbClr val="94A3B8"/>
                </a:solidFill>
              </a:defRPr>
            </a:pPr>
            <a:r>
              <a:t>Systematic phased progression from hypertrophy foundation to maximum event performance</a:t>
            </a:r>
          </a:p>
        </p:txBody>
      </p:sp>
      <p:sp>
        <p:nvSpPr>
          <p:cNvPr id="4" name="Rounded Rectangle 3"/>
          <p:cNvSpPr/>
          <p:nvPr/>
        </p:nvSpPr>
        <p:spPr>
          <a:xfrm>
            <a:off x="731520" y="1691640"/>
            <a:ext cx="25146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40280" cy="4251960"/>
          </a:xfrm>
          <a:prstGeom prst="rect">
            <a:avLst/>
          </a:prstGeom>
          <a:noFill/>
        </p:spPr>
        <p:txBody>
          <a:bodyPr wrap="square" lIns="0" tIns="0" rIns="0" bIns="0">
            <a:spAutoFit/>
          </a:bodyPr>
          <a:lstStyle/>
          <a:p>
            <a:pPr>
              <a:spcAft>
                <a:spcPts val="200"/>
              </a:spcAft>
              <a:defRPr sz="850" b="1">
                <a:solidFill>
                  <a:srgbClr val="38BDF8"/>
                </a:solidFill>
              </a:defRPr>
            </a:pPr>
            <a:r>
              <a:t>PHASE 1 • WEEKS 1–10</a:t>
            </a:r>
          </a:p>
          <a:p>
            <a:pPr>
              <a:spcAft>
                <a:spcPts val="1000"/>
              </a:spcAft>
              <a:defRPr sz="1300" b="1">
                <a:solidFill>
                  <a:srgbClr val="F8FAFC"/>
                </a:solidFill>
              </a:defRPr>
            </a:pPr>
            <a:r>
              <a:t>Hypertrophy &amp; Base</a:t>
            </a:r>
          </a:p>
          <a:p>
            <a:pPr>
              <a:spcAft>
                <a:spcPts val="800"/>
              </a:spcAft>
              <a:defRPr sz="950">
                <a:solidFill>
                  <a:srgbClr val="94A3B8"/>
                </a:solidFill>
              </a:defRPr>
            </a:pPr>
            <a:r>
              <a:t>• Primary Objective: Mass gain to 82.0 kg (+3.0 kg).</a:t>
            </a:r>
          </a:p>
          <a:p>
            <a:pPr>
              <a:spcAft>
                <a:spcPts val="800"/>
              </a:spcAft>
              <a:defRPr sz="950">
                <a:solidFill>
                  <a:srgbClr val="94A3B8"/>
                </a:solidFill>
              </a:defRPr>
            </a:pPr>
            <a:r>
              <a:t>• Volume Focus: Eliminate Quad &amp; Hamstring deficits via machine isolation.</a:t>
            </a:r>
          </a:p>
          <a:p>
            <a:pPr>
              <a:spcAft>
                <a:spcPts val="800"/>
              </a:spcAft>
              <a:defRPr sz="950">
                <a:solidFill>
                  <a:srgbClr val="94A3B8"/>
                </a:solidFill>
              </a:defRPr>
            </a:pPr>
            <a:r>
              <a:t>• Target Strength: Bench Press 95kg, Squat 110kg, Deadlift 150kg.</a:t>
            </a:r>
          </a:p>
          <a:p>
            <a:pPr>
              <a:spcAft>
                <a:spcPts val="800"/>
              </a:spcAft>
              <a:defRPr sz="950">
                <a:solidFill>
                  <a:srgbClr val="94A3B8"/>
                </a:solidFill>
              </a:defRPr>
            </a:pPr>
            <a:r>
              <a:t>• Aerobic: Build steady-state Zone 2 engine (5k pace &lt; 5:15/km).</a:t>
            </a:r>
          </a:p>
          <a:p>
            <a:pPr>
              <a:spcAft>
                <a:spcPts val="800"/>
              </a:spcAft>
              <a:defRPr sz="950">
                <a:solidFill>
                  <a:srgbClr val="94A3B8"/>
                </a:solidFill>
              </a:defRPr>
            </a:pPr>
            <a:r>
              <a:t>• Workload Management: Re-normalize ACWR into the 0.9–1.2 sweet spot.</a:t>
            </a:r>
          </a:p>
        </p:txBody>
      </p:sp>
      <p:sp>
        <p:nvSpPr>
          <p:cNvPr id="6" name="Rounded Rectangle 5"/>
          <p:cNvSpPr/>
          <p:nvPr/>
        </p:nvSpPr>
        <p:spPr>
          <a:xfrm>
            <a:off x="3465576" y="1691640"/>
            <a:ext cx="25146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828800"/>
            <a:ext cx="2240280" cy="4251960"/>
          </a:xfrm>
          <a:prstGeom prst="rect">
            <a:avLst/>
          </a:prstGeom>
          <a:noFill/>
        </p:spPr>
        <p:txBody>
          <a:bodyPr wrap="square" lIns="0" tIns="0" rIns="0" bIns="0">
            <a:spAutoFit/>
          </a:bodyPr>
          <a:lstStyle/>
          <a:p>
            <a:pPr>
              <a:spcAft>
                <a:spcPts val="200"/>
              </a:spcAft>
              <a:defRPr sz="850" b="1">
                <a:solidFill>
                  <a:srgbClr val="FACC15"/>
                </a:solidFill>
              </a:defRPr>
            </a:pPr>
            <a:r>
              <a:t>PHASE 2 • WEEKS 11–22</a:t>
            </a:r>
          </a:p>
          <a:p>
            <a:pPr>
              <a:spcAft>
                <a:spcPts val="1000"/>
              </a:spcAft>
              <a:defRPr sz="1300" b="1">
                <a:solidFill>
                  <a:srgbClr val="F8FAFC"/>
                </a:solidFill>
              </a:defRPr>
            </a:pPr>
            <a:r>
              <a:t>Strength Overload</a:t>
            </a:r>
          </a:p>
          <a:p>
            <a:pPr>
              <a:spcAft>
                <a:spcPts val="800"/>
              </a:spcAft>
              <a:defRPr sz="950">
                <a:solidFill>
                  <a:srgbClr val="94A3B8"/>
                </a:solidFill>
              </a:defRPr>
            </a:pPr>
            <a:r>
              <a:t>• Primary Objective: Max force production &amp; power output.</a:t>
            </a:r>
          </a:p>
          <a:p>
            <a:pPr>
              <a:spcAft>
                <a:spcPts val="800"/>
              </a:spcAft>
              <a:defRPr sz="950">
                <a:solidFill>
                  <a:srgbClr val="94A3B8"/>
                </a:solidFill>
              </a:defRPr>
            </a:pPr>
            <a:r>
              <a:t>• Overhead Overload: S2O push jerk progression targeting 55kg.</a:t>
            </a:r>
          </a:p>
          <a:p>
            <a:pPr>
              <a:spcAft>
                <a:spcPts val="800"/>
              </a:spcAft>
              <a:defRPr sz="950">
                <a:solidFill>
                  <a:srgbClr val="94A3B8"/>
                </a:solidFill>
              </a:defRPr>
            </a:pPr>
            <a:r>
              <a:t>• Squat Focus: High-bar squat progressive overload targeting 120kg.</a:t>
            </a:r>
          </a:p>
          <a:p>
            <a:pPr>
              <a:spcAft>
                <a:spcPts val="800"/>
              </a:spcAft>
              <a:defRPr sz="950">
                <a:solidFill>
                  <a:srgbClr val="94A3B8"/>
                </a:solidFill>
              </a:defRPr>
            </a:pPr>
            <a:r>
              <a:t>• Running: Weekly 1000m lactate threshold intervals (pace &lt; 4:50/km).</a:t>
            </a:r>
          </a:p>
          <a:p>
            <a:pPr>
              <a:spcAft>
                <a:spcPts val="800"/>
              </a:spcAft>
              <a:defRPr sz="950">
                <a:solidFill>
                  <a:srgbClr val="94A3B8"/>
                </a:solidFill>
              </a:defRPr>
            </a:pPr>
            <a:r>
              <a:t>• Bodyweight: Steady lean mass increase towards 83.5 kg.</a:t>
            </a:r>
          </a:p>
        </p:txBody>
      </p:sp>
      <p:sp>
        <p:nvSpPr>
          <p:cNvPr id="8" name="Rounded Rectangle 7"/>
          <p:cNvSpPr/>
          <p:nvPr/>
        </p:nvSpPr>
        <p:spPr>
          <a:xfrm>
            <a:off x="6199632" y="1691640"/>
            <a:ext cx="25146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828800"/>
            <a:ext cx="2240280" cy="4251960"/>
          </a:xfrm>
          <a:prstGeom prst="rect">
            <a:avLst/>
          </a:prstGeom>
          <a:noFill/>
        </p:spPr>
        <p:txBody>
          <a:bodyPr wrap="square" lIns="0" tIns="0" rIns="0" bIns="0">
            <a:spAutoFit/>
          </a:bodyPr>
          <a:lstStyle/>
          <a:p>
            <a:pPr>
              <a:spcAft>
                <a:spcPts val="200"/>
              </a:spcAft>
              <a:defRPr sz="850" b="1">
                <a:solidFill>
                  <a:srgbClr val="A78BFA"/>
                </a:solidFill>
              </a:defRPr>
            </a:pPr>
            <a:r>
              <a:t>PHASE 3 • WEEKS 23–30</a:t>
            </a:r>
          </a:p>
          <a:p>
            <a:pPr>
              <a:spcAft>
                <a:spcPts val="1000"/>
              </a:spcAft>
              <a:defRPr sz="1300" b="1">
                <a:solidFill>
                  <a:srgbClr val="F8FAFC"/>
                </a:solidFill>
              </a:defRPr>
            </a:pPr>
            <a:r>
              <a:t>ATHX Peaking</a:t>
            </a:r>
          </a:p>
          <a:p>
            <a:pPr>
              <a:spcAft>
                <a:spcPts val="800"/>
              </a:spcAft>
              <a:defRPr sz="950">
                <a:solidFill>
                  <a:srgbClr val="94A3B8"/>
                </a:solidFill>
              </a:defRPr>
            </a:pPr>
            <a:r>
              <a:t>• Primary Objective: Event-specific lactic capacity &amp; grip endurance.</a:t>
            </a:r>
          </a:p>
          <a:p>
            <a:pPr>
              <a:spcAft>
                <a:spcPts val="800"/>
              </a:spcAft>
              <a:defRPr sz="950">
                <a:solidFill>
                  <a:srgbClr val="94A3B8"/>
                </a:solidFill>
              </a:defRPr>
            </a:pPr>
            <a:r>
              <a:t>• Loaded Carries: Heavy Sandbag walks at competition weight (60kg).</a:t>
            </a:r>
          </a:p>
          <a:p>
            <a:pPr>
              <a:spcAft>
                <a:spcPts val="800"/>
              </a:spcAft>
              <a:defRPr sz="950">
                <a:solidFill>
                  <a:srgbClr val="94A3B8"/>
                </a:solidFill>
              </a:defRPr>
            </a:pPr>
            <a:r>
              <a:t>• S2O Under Fatigue: Barbell push press immediately following 500m row intervals.</a:t>
            </a:r>
          </a:p>
          <a:p>
            <a:pPr>
              <a:spcAft>
                <a:spcPts val="800"/>
              </a:spcAft>
              <a:defRPr sz="950">
                <a:solidFill>
                  <a:srgbClr val="94A3B8"/>
                </a:solidFill>
              </a:defRPr>
            </a:pPr>
            <a:r>
              <a:t>• Running: 5km pace sharpening targeting 4:35/km standard.</a:t>
            </a:r>
          </a:p>
          <a:p>
            <a:pPr>
              <a:spcAft>
                <a:spcPts val="800"/>
              </a:spcAft>
              <a:defRPr sz="950">
                <a:solidFill>
                  <a:srgbClr val="94A3B8"/>
                </a:solidFill>
              </a:defRPr>
            </a:pPr>
            <a:r>
              <a:t>• Target Bodyweight: Hit 85.0 kg competition mass.</a:t>
            </a:r>
          </a:p>
        </p:txBody>
      </p:sp>
      <p:sp>
        <p:nvSpPr>
          <p:cNvPr id="10" name="Rounded Rectangle 9"/>
          <p:cNvSpPr/>
          <p:nvPr/>
        </p:nvSpPr>
        <p:spPr>
          <a:xfrm>
            <a:off x="8933688" y="1691640"/>
            <a:ext cx="2514600" cy="4526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828800"/>
            <a:ext cx="2240280" cy="4251960"/>
          </a:xfrm>
          <a:prstGeom prst="rect">
            <a:avLst/>
          </a:prstGeom>
          <a:noFill/>
        </p:spPr>
        <p:txBody>
          <a:bodyPr wrap="square" lIns="0" tIns="0" rIns="0" bIns="0">
            <a:spAutoFit/>
          </a:bodyPr>
          <a:lstStyle/>
          <a:p>
            <a:pPr>
              <a:spcAft>
                <a:spcPts val="200"/>
              </a:spcAft>
              <a:defRPr sz="850" b="1">
                <a:solidFill>
                  <a:srgbClr val="34D399"/>
                </a:solidFill>
              </a:defRPr>
            </a:pPr>
            <a:r>
              <a:t>PHASE 4 • WEEKS 31–34</a:t>
            </a:r>
          </a:p>
          <a:p>
            <a:pPr>
              <a:spcAft>
                <a:spcPts val="1000"/>
              </a:spcAft>
              <a:defRPr sz="1300" b="1">
                <a:solidFill>
                  <a:srgbClr val="F8FAFC"/>
                </a:solidFill>
              </a:defRPr>
            </a:pPr>
            <a:r>
              <a:t>Taper &amp; Peaking</a:t>
            </a:r>
          </a:p>
          <a:p>
            <a:pPr>
              <a:spcAft>
                <a:spcPts val="800"/>
              </a:spcAft>
              <a:defRPr sz="950">
                <a:solidFill>
                  <a:srgbClr val="94A3B8"/>
                </a:solidFill>
              </a:defRPr>
            </a:pPr>
            <a:r>
              <a:t>• Primary Objective: CNS restoration &amp; supercompensation.</a:t>
            </a:r>
          </a:p>
          <a:p>
            <a:pPr>
              <a:spcAft>
                <a:spcPts val="800"/>
              </a:spcAft>
              <a:defRPr sz="950">
                <a:solidFill>
                  <a:srgbClr val="94A3B8"/>
                </a:solidFill>
              </a:defRPr>
            </a:pPr>
            <a:r>
              <a:t>• Volume Cut: Reduce weekly sets by 50% while maintaining 90%+ intensity.</a:t>
            </a:r>
          </a:p>
          <a:p>
            <a:pPr>
              <a:spcAft>
                <a:spcPts val="800"/>
              </a:spcAft>
              <a:defRPr sz="950">
                <a:solidFill>
                  <a:srgbClr val="94A3B8"/>
                </a:solidFill>
              </a:defRPr>
            </a:pPr>
            <a:r>
              <a:t>• Glycogen Supercompensation: High-carb fueling protocol.</a:t>
            </a:r>
          </a:p>
          <a:p>
            <a:pPr>
              <a:spcAft>
                <a:spcPts val="800"/>
              </a:spcAft>
              <a:defRPr sz="950">
                <a:solidFill>
                  <a:srgbClr val="94A3B8"/>
                </a:solidFill>
              </a:defRPr>
            </a:pPr>
            <a:r>
              <a:t>• Sleep &amp; Recovery: Strict 8.0h sleep window, active mobility.</a:t>
            </a:r>
          </a:p>
          <a:p>
            <a:pPr>
              <a:spcAft>
                <a:spcPts val="800"/>
              </a:spcAft>
              <a:defRPr sz="950">
                <a:solidFill>
                  <a:srgbClr val="94A3B8"/>
                </a:solidFill>
              </a:defRPr>
            </a:pPr>
            <a:r>
              <a:t>• Competition Day: Step onto the ATHX arena on May 27, 2027 fully qualified.</a:t>
            </a:r>
          </a:p>
        </p:txBody>
      </p:sp>
      <p:sp>
        <p:nvSpPr>
          <p:cNvPr id="12" name="TextBox 11"/>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A"/>
          </a:solidFill>
          <a:ln>
            <a:solidFill>
              <a:srgbClr val="08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spcAft>
                <a:spcPts val="200"/>
              </a:spcAft>
              <a:defRPr sz="1000" b="1">
                <a:solidFill>
                  <a:srgbClr val="38BDF8"/>
                </a:solidFill>
              </a:defRPr>
            </a:pPr>
            <a:r>
              <a:t>OPERATIONS &amp; CONTINUOUS INTEGRATION</a:t>
            </a:r>
          </a:p>
          <a:p>
            <a:pPr>
              <a:spcAft>
                <a:spcPts val="300"/>
              </a:spcAft>
              <a:defRPr sz="2200" b="1">
                <a:solidFill>
                  <a:srgbClr val="F8FAFC"/>
                </a:solidFill>
              </a:defRPr>
            </a:pPr>
            <a:r>
              <a:t>Operational Ecosystem: The 'athx' Pipeline</a:t>
            </a:r>
          </a:p>
          <a:p>
            <a:pPr>
              <a:defRPr sz="1100">
                <a:solidFill>
                  <a:srgbClr val="94A3B8"/>
                </a:solidFill>
              </a:defRPr>
            </a:pPr>
            <a:r>
              <a:t>Automated synchronization across local machines, cloud servers, and personal Google Drive</a:t>
            </a:r>
          </a:p>
        </p:txBody>
      </p:sp>
      <p:sp>
        <p:nvSpPr>
          <p:cNvPr id="4" name="Rounded Rectangle 3"/>
          <p:cNvSpPr/>
          <p:nvPr/>
        </p:nvSpPr>
        <p:spPr>
          <a:xfrm>
            <a:off x="731520" y="1691640"/>
            <a:ext cx="3429000" cy="31089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56232"/>
            <a:ext cx="3099816" cy="2779776"/>
          </a:xfrm>
          <a:prstGeom prst="rect">
            <a:avLst/>
          </a:prstGeom>
          <a:noFill/>
        </p:spPr>
        <p:txBody>
          <a:bodyPr wrap="square" lIns="0" tIns="0" rIns="0" bIns="0">
            <a:spAutoFit/>
          </a:bodyPr>
          <a:lstStyle/>
          <a:p>
            <a:pPr>
              <a:spcAft>
                <a:spcPts val="200"/>
              </a:spcAft>
              <a:defRPr sz="850" b="1">
                <a:solidFill>
                  <a:srgbClr val="38BDF8"/>
                </a:solidFill>
              </a:defRPr>
            </a:pPr>
            <a:r>
              <a:t>COMMAND 1 • ONE-WORD CLI</a:t>
            </a:r>
          </a:p>
          <a:p>
            <a:pPr>
              <a:spcAft>
                <a:spcPts val="800"/>
              </a:spcAft>
              <a:defRPr sz="1300" b="1">
                <a:solidFill>
                  <a:srgbClr val="F8FAFC"/>
                </a:solidFill>
              </a:defRPr>
            </a:pPr>
            <a:r>
              <a:t>Master Terminal Command: 'athx'</a:t>
            </a:r>
          </a:p>
          <a:p>
            <a:pPr>
              <a:spcAft>
                <a:spcPts val="600"/>
              </a:spcAft>
              <a:defRPr sz="950">
                <a:solidFill>
                  <a:srgbClr val="94A3B8"/>
                </a:solidFill>
              </a:defRPr>
            </a:pPr>
            <a:r>
              <a:t>• Executable anywhere via ~/.local/bin/athx.</a:t>
            </a:r>
          </a:p>
          <a:p>
            <a:pPr>
              <a:spcAft>
                <a:spcPts val="600"/>
              </a:spcAft>
              <a:defRPr sz="950">
                <a:solidFill>
                  <a:srgbClr val="94A3B8"/>
                </a:solidFill>
              </a:defRPr>
            </a:pPr>
            <a:r>
              <a:t>• Pulls latest commits from origin/main.</a:t>
            </a:r>
          </a:p>
          <a:p>
            <a:pPr>
              <a:spcAft>
                <a:spcPts val="600"/>
              </a:spcAft>
              <a:defRPr sz="950">
                <a:solidFill>
                  <a:srgbClr val="94A3B8"/>
                </a:solidFill>
              </a:defRPr>
            </a:pPr>
            <a:r>
              <a:t>• Ingests Apple Health &amp; Garmin telemetry.</a:t>
            </a:r>
          </a:p>
          <a:p>
            <a:pPr>
              <a:spcAft>
                <a:spcPts val="600"/>
              </a:spcAft>
              <a:defRPr sz="950">
                <a:solidFill>
                  <a:srgbClr val="94A3B8"/>
                </a:solidFill>
              </a:defRPr>
            </a:pPr>
            <a:r>
              <a:t>• Executes athx_analytics.py processing.</a:t>
            </a:r>
          </a:p>
          <a:p>
            <a:pPr>
              <a:spcAft>
                <a:spcPts val="600"/>
              </a:spcAft>
              <a:defRPr sz="950">
                <a:solidFill>
                  <a:srgbClr val="94A3B8"/>
                </a:solidFill>
              </a:defRPr>
            </a:pPr>
            <a:r>
              <a:t>• Rebuilds garmin_workout.html &amp; pushes to GitHub.</a:t>
            </a:r>
          </a:p>
        </p:txBody>
      </p:sp>
      <p:sp>
        <p:nvSpPr>
          <p:cNvPr id="6" name="Rounded Rectangle 5"/>
          <p:cNvSpPr/>
          <p:nvPr/>
        </p:nvSpPr>
        <p:spPr>
          <a:xfrm>
            <a:off x="4379976" y="1691640"/>
            <a:ext cx="3429000" cy="31089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1856232"/>
            <a:ext cx="3099816" cy="2779776"/>
          </a:xfrm>
          <a:prstGeom prst="rect">
            <a:avLst/>
          </a:prstGeom>
          <a:noFill/>
        </p:spPr>
        <p:txBody>
          <a:bodyPr wrap="square" lIns="0" tIns="0" rIns="0" bIns="0">
            <a:spAutoFit/>
          </a:bodyPr>
          <a:lstStyle/>
          <a:p>
            <a:pPr>
              <a:spcAft>
                <a:spcPts val="200"/>
              </a:spcAft>
              <a:defRPr sz="850" b="1">
                <a:solidFill>
                  <a:srgbClr val="FACC15"/>
                </a:solidFill>
              </a:defRPr>
            </a:pPr>
            <a:r>
              <a:t>COMMAND 2 • CLOUD HUB</a:t>
            </a:r>
          </a:p>
          <a:p>
            <a:pPr>
              <a:spcAft>
                <a:spcPts val="800"/>
              </a:spcAft>
              <a:defRPr sz="1300" b="1">
                <a:solidFill>
                  <a:srgbClr val="F8FAFC"/>
                </a:solidFill>
              </a:defRPr>
            </a:pPr>
            <a:r>
              <a:t>Personal Google Drive Sync</a:t>
            </a:r>
          </a:p>
          <a:p>
            <a:pPr>
              <a:spcAft>
                <a:spcPts val="600"/>
              </a:spcAft>
              <a:defRPr sz="950">
                <a:solidFill>
                  <a:srgbClr val="94A3B8"/>
                </a:solidFill>
              </a:defRPr>
            </a:pPr>
            <a:r>
              <a:t>• Synchronized via drive_sync.py OAuth2 service.</a:t>
            </a:r>
          </a:p>
          <a:p>
            <a:pPr>
              <a:spcAft>
                <a:spcPts val="600"/>
              </a:spcAft>
              <a:defRPr sz="950">
                <a:solidFill>
                  <a:srgbClr val="94A3B8"/>
                </a:solidFill>
              </a:defRPr>
            </a:pPr>
            <a:r>
              <a:t>• Hub folder: 'AGY - Intelligence Hub'.</a:t>
            </a:r>
          </a:p>
          <a:p>
            <a:pPr>
              <a:spcAft>
                <a:spcPts val="600"/>
              </a:spcAft>
              <a:defRPr sz="950">
                <a:solidFill>
                  <a:srgbClr val="94A3B8"/>
                </a:solidFill>
              </a:defRPr>
            </a:pPr>
            <a:r>
              <a:t>• Automated PPTX and Google Slides presentation conversion.</a:t>
            </a:r>
          </a:p>
          <a:p>
            <a:pPr>
              <a:spcAft>
                <a:spcPts val="600"/>
              </a:spcAft>
              <a:defRPr sz="950">
                <a:solidFill>
                  <a:srgbClr val="94A3B8"/>
                </a:solidFill>
              </a:defRPr>
            </a:pPr>
            <a:r>
              <a:t>• Preserves cold-archive backups across devices.</a:t>
            </a:r>
          </a:p>
        </p:txBody>
      </p:sp>
      <p:sp>
        <p:nvSpPr>
          <p:cNvPr id="8" name="Rounded Rectangle 7"/>
          <p:cNvSpPr/>
          <p:nvPr/>
        </p:nvSpPr>
        <p:spPr>
          <a:xfrm>
            <a:off x="8028432" y="1691640"/>
            <a:ext cx="3429000" cy="31089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4" y="1856232"/>
            <a:ext cx="3099816" cy="2779776"/>
          </a:xfrm>
          <a:prstGeom prst="rect">
            <a:avLst/>
          </a:prstGeom>
          <a:noFill/>
        </p:spPr>
        <p:txBody>
          <a:bodyPr wrap="square" lIns="0" tIns="0" rIns="0" bIns="0">
            <a:spAutoFit/>
          </a:bodyPr>
          <a:lstStyle/>
          <a:p>
            <a:pPr>
              <a:spcAft>
                <a:spcPts val="200"/>
              </a:spcAft>
              <a:defRPr sz="850" b="1">
                <a:solidFill>
                  <a:srgbClr val="34D399"/>
                </a:solidFill>
              </a:defRPr>
            </a:pPr>
            <a:r>
              <a:t>COMMAND 3 • PRODUCTION SERVER</a:t>
            </a:r>
          </a:p>
          <a:p>
            <a:pPr>
              <a:spcAft>
                <a:spcPts val="800"/>
              </a:spcAft>
              <a:defRPr sz="1300" b="1">
                <a:solidFill>
                  <a:srgbClr val="F8FAFC"/>
                </a:solidFill>
              </a:defRPr>
            </a:pPr>
            <a:r>
              <a:t>Docker &amp; SWAG Reverse Proxy</a:t>
            </a:r>
          </a:p>
          <a:p>
            <a:pPr>
              <a:spcAft>
                <a:spcPts val="600"/>
              </a:spcAft>
              <a:defRPr sz="950">
                <a:solidFill>
                  <a:srgbClr val="94A3B8"/>
                </a:solidFill>
              </a:defRPr>
            </a:pPr>
            <a:r>
              <a:t>• Containerized daemon listening on port 8080.</a:t>
            </a:r>
          </a:p>
          <a:p>
            <a:pPr>
              <a:spcAft>
                <a:spcPts val="600"/>
              </a:spcAft>
              <a:defRPr sz="950">
                <a:solidFill>
                  <a:srgbClr val="94A3B8"/>
                </a:solidFill>
              </a:defRPr>
            </a:pPr>
            <a:r>
              <a:t>• Automated 24/7 iOS webhook listener at /api/health.</a:t>
            </a:r>
          </a:p>
          <a:p>
            <a:pPr>
              <a:spcAft>
                <a:spcPts val="600"/>
              </a:spcAft>
              <a:defRPr sz="950">
                <a:solidFill>
                  <a:srgbClr val="94A3B8"/>
                </a:solidFill>
              </a:defRPr>
            </a:pPr>
            <a:r>
              <a:t>• Hosted publicly behind SWAG SSL reverse proxy.</a:t>
            </a:r>
          </a:p>
          <a:p>
            <a:pPr>
              <a:spcAft>
                <a:spcPts val="600"/>
              </a:spcAft>
              <a:defRPr sz="950">
                <a:solidFill>
                  <a:srgbClr val="94A3B8"/>
                </a:solidFill>
              </a:defRPr>
            </a:pPr>
            <a:r>
              <a:t>• GitHub Pages single source of truth at ayrtonxandre.github.io/agy.</a:t>
            </a:r>
          </a:p>
        </p:txBody>
      </p:sp>
      <p:sp>
        <p:nvSpPr>
          <p:cNvPr id="10" name="Rounded Rectangle 9"/>
          <p:cNvSpPr/>
          <p:nvPr/>
        </p:nvSpPr>
        <p:spPr>
          <a:xfrm>
            <a:off x="731520" y="4983480"/>
            <a:ext cx="10728655" cy="1234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74920"/>
            <a:ext cx="10362895" cy="1051560"/>
          </a:xfrm>
          <a:prstGeom prst="rect">
            <a:avLst/>
          </a:prstGeom>
          <a:noFill/>
        </p:spPr>
        <p:txBody>
          <a:bodyPr wrap="square">
            <a:spAutoFit/>
          </a:bodyPr>
          <a:lstStyle/>
          <a:p>
            <a:pPr>
              <a:spcAft>
                <a:spcPts val="300"/>
              </a:spcAft>
              <a:defRPr sz="1050" b="1">
                <a:solidFill>
                  <a:srgbClr val="FACC15"/>
                </a:solidFill>
              </a:defRPr>
            </a:pPr>
            <a:r>
              <a:t>⚡ SUMMARY &amp; NEXT STEPS:</a:t>
            </a:r>
          </a:p>
          <a:p>
            <a:pPr>
              <a:defRPr sz="950">
                <a:solidFill>
                  <a:srgbClr val="F8FAFC"/>
                </a:solidFill>
              </a:defRPr>
            </a:pPr>
            <a:r>
              <a:t>• Local PPTX File: Saved in Documents/work/AGY and User Home directory.</a:t>
            </a:r>
            <a:br/>
            <a:r>
              <a:t>• Google Drive Presentation: Uploaded and converted to native Google Slides in Ayrton's 'AGY - Intelligence Hub' folder.</a:t>
            </a:r>
            <a:br/>
            <a:r>
              <a:t>• Live Interactive Web Dashboard: Available at garmin_workout.html and https://ayrtonxandre.github.io/agy/.</a:t>
            </a:r>
          </a:p>
        </p:txBody>
      </p:sp>
      <p:sp>
        <p:nvSpPr>
          <p:cNvPr id="12" name="TextBox 11"/>
          <p:cNvSpPr txBox="1"/>
          <p:nvPr/>
        </p:nvSpPr>
        <p:spPr>
          <a:xfrm>
            <a:off x="731520" y="6446520"/>
            <a:ext cx="10728655" cy="320040"/>
          </a:xfrm>
          <a:prstGeom prst="rect">
            <a:avLst/>
          </a:prstGeom>
          <a:noFill/>
        </p:spPr>
        <p:txBody>
          <a:bodyPr wrap="none" lIns="0" tIns="0" rIns="0" bIns="0">
            <a:spAutoFit/>
          </a:bodyPr>
          <a:lstStyle/>
          <a:p>
            <a:pPr>
              <a:defRPr sz="900">
                <a:solidFill>
                  <a:srgbClr val="64748B"/>
                </a:solidFill>
              </a:defRPr>
            </a:pPr>
            <a:r>
              <a:t>⚡ ATHX Games 2027 • Athlete Intelligence Hub | Ayrton Andre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